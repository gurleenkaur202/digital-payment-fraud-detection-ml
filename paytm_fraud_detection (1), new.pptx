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79" d="100"/>
          <a:sy n="79" d="100"/>
        </p:scale>
        <p:origin x="-360" y="-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gurkirat13-04" TargetMode="External"/><Relationship Id="rId3" Type="http://schemas.openxmlformats.org/officeDocument/2006/relationships/hyperlink" Target="https://github.com/ishikakumar227-sys" TargetMode="External"/><Relationship Id="rId7" Type="http://schemas.openxmlformats.org/officeDocument/2006/relationships/hyperlink" Target="https://github.com/Gurleenkaur202" TargetMode="External"/><Relationship Id="rId12" Type="http://schemas.openxmlformats.org/officeDocument/2006/relationships/hyperlink" Target="https://github.com/arshpreetsinghb4-creator" TargetMode="External"/><Relationship Id="rId2" Type="http://schemas.openxmlformats.org/officeDocument/2006/relationships/hyperlink" Target="http://github.com/Harmeet732008" TargetMode="External"/><Relationship Id="rId1" Type="http://schemas.openxmlformats.org/officeDocument/2006/relationships/hyperlink" Target="https://github.com/harshjot231006" TargetMode="External"/><Relationship Id="rId6" Type="http://schemas.openxmlformats.org/officeDocument/2006/relationships/hyperlink" Target="https://github.com/kaurashwinder06-cell" TargetMode="External"/><Relationship Id="rId11" Type="http://schemas.openxmlformats.org/officeDocument/2006/relationships/hyperlink" Target="https://github.com/Amandeep1808" TargetMode="External"/><Relationship Id="rId5" Type="http://schemas.openxmlformats.org/officeDocument/2006/relationships/hyperlink" Target="https://github.com/gaganpreetkaur914-sudo" TargetMode="External"/><Relationship Id="rId10" Type="http://schemas.openxmlformats.org/officeDocument/2006/relationships/hyperlink" Target="https://github.com/Jaismeen-123" TargetMode="External"/><Relationship Id="rId4" Type="http://schemas.openxmlformats.org/officeDocument/2006/relationships/hyperlink" Target="https://github.com/ishvir292007" TargetMode="External"/><Relationship Id="rId9" Type="http://schemas.openxmlformats.org/officeDocument/2006/relationships/hyperlink" Target="https://github.com/Dimple041007" TargetMode="External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gurkirat13-04" TargetMode="External"/><Relationship Id="rId3" Type="http://schemas.openxmlformats.org/officeDocument/2006/relationships/hyperlink" Target="https://github.com/ishikakumar227-sys" TargetMode="External"/><Relationship Id="rId7" Type="http://schemas.openxmlformats.org/officeDocument/2006/relationships/hyperlink" Target="https://github.com/Gurleenkaur202" TargetMode="External"/><Relationship Id="rId12" Type="http://schemas.openxmlformats.org/officeDocument/2006/relationships/hyperlink" Target="https://github.com/arshpreetsinghb4-creator" TargetMode="External"/><Relationship Id="rId2" Type="http://schemas.openxmlformats.org/officeDocument/2006/relationships/hyperlink" Target="http://github.com/Harmeet732008" TargetMode="External"/><Relationship Id="rId1" Type="http://schemas.openxmlformats.org/officeDocument/2006/relationships/hyperlink" Target="https://github.com/harshjot231006" TargetMode="External"/><Relationship Id="rId6" Type="http://schemas.openxmlformats.org/officeDocument/2006/relationships/hyperlink" Target="https://github.com/kaurashwinder06-cell" TargetMode="External"/><Relationship Id="rId11" Type="http://schemas.openxmlformats.org/officeDocument/2006/relationships/hyperlink" Target="https://github.com/Amandeep1808" TargetMode="External"/><Relationship Id="rId5" Type="http://schemas.openxmlformats.org/officeDocument/2006/relationships/hyperlink" Target="https://github.com/gaganpreetkaur914-sudo" TargetMode="External"/><Relationship Id="rId10" Type="http://schemas.openxmlformats.org/officeDocument/2006/relationships/hyperlink" Target="https://github.com/Jaismeen-123" TargetMode="External"/><Relationship Id="rId4" Type="http://schemas.openxmlformats.org/officeDocument/2006/relationships/hyperlink" Target="https://github.com/ishvir292007" TargetMode="External"/><Relationship Id="rId9" Type="http://schemas.openxmlformats.org/officeDocument/2006/relationships/hyperlink" Target="https://github.com/Dimple041007" TargetMode="Externa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#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3D67C51-586C-440A-97C4-CD02690A5C5C}" type="doc">
      <dgm:prSet loTypeId="urn:microsoft.com/office/officeart/2008/layout/LinedList" loCatId="list" qsTypeId="urn:microsoft.com/office/officeart/2005/8/quickstyle/simple1#2" qsCatId="simple" csTypeId="urn:microsoft.com/office/officeart/2005/8/colors/accent1_2#2" csCatId="accent1" phldr="1"/>
      <dgm:spPr/>
      <dgm:t>
        <a:bodyPr/>
        <a:lstStyle/>
        <a:p>
          <a:endParaRPr lang="en-US"/>
        </a:p>
      </dgm:t>
    </dgm:pt>
    <dgm:pt modelId="{9CEE1D44-1EEB-4F65-A39D-46FE839068EB}">
      <dgm:prSet/>
      <dgm:spPr/>
      <dgm:t>
        <a:bodyPr/>
        <a:lstStyle/>
        <a:p>
          <a:r>
            <a:rPr lang="en-US" dirty="0" smtClean="0">
              <a:hlinkClick xmlns:r="http://schemas.openxmlformats.org/officeDocument/2006/relationships" r:id="rId1"/>
            </a:rPr>
            <a:t> </a:t>
          </a:r>
          <a:r>
            <a:rPr lang="en-US" dirty="0" err="1" smtClean="0">
              <a:hlinkClick xmlns:r="http://schemas.openxmlformats.org/officeDocument/2006/relationships" r:id="rId1"/>
            </a:rPr>
            <a:t>Harshjot</a:t>
          </a:r>
          <a:r>
            <a:rPr lang="en-US" dirty="0" smtClean="0">
              <a:hlinkClick xmlns:r="http://schemas.openxmlformats.org/officeDocument/2006/relationships" r:id="rId1"/>
            </a:rPr>
            <a:t> </a:t>
          </a:r>
          <a:r>
            <a:rPr lang="en-US" dirty="0" err="1" smtClean="0">
              <a:hlinkClick xmlns:r="http://schemas.openxmlformats.org/officeDocument/2006/relationships" r:id="rId1"/>
            </a:rPr>
            <a:t>kaur</a:t>
          </a:r>
          <a:r>
            <a:rPr lang="en-US" dirty="0" smtClean="0">
              <a:hlinkClick xmlns:r="http://schemas.openxmlformats.org/officeDocument/2006/relationships" r:id="rId1"/>
            </a:rPr>
            <a:t>  :      https</a:t>
          </a:r>
          <a:r>
            <a:rPr lang="en-US" dirty="0">
              <a:hlinkClick xmlns:r="http://schemas.openxmlformats.org/officeDocument/2006/relationships" r:id="rId1"/>
            </a:rPr>
            <a:t>://github.com/harshjot231006</a:t>
          </a:r>
          <a:endParaRPr lang="en-US" dirty="0"/>
        </a:p>
      </dgm:t>
    </dgm:pt>
    <dgm:pt modelId="{8DEE947B-DFE8-4F3D-B035-8B28F47A9D6A}" type="parTrans" cxnId="{988D1677-9FB3-4866-9EC0-2AE0366FB9BC}">
      <dgm:prSet/>
      <dgm:spPr/>
      <dgm:t>
        <a:bodyPr/>
        <a:lstStyle/>
        <a:p>
          <a:endParaRPr lang="en-US"/>
        </a:p>
      </dgm:t>
    </dgm:pt>
    <dgm:pt modelId="{0B72B81B-0304-41D1-9027-3CCEBEDBF8E1}" type="sibTrans" cxnId="{988D1677-9FB3-4866-9EC0-2AE0366FB9BC}">
      <dgm:prSet/>
      <dgm:spPr/>
      <dgm:t>
        <a:bodyPr/>
        <a:lstStyle/>
        <a:p>
          <a:endParaRPr lang="en-US"/>
        </a:p>
      </dgm:t>
    </dgm:pt>
    <dgm:pt modelId="{7408BC5D-02B5-475F-8724-6FC07142EDED}">
      <dgm:prSet/>
      <dgm:spPr/>
      <dgm:t>
        <a:bodyPr/>
        <a:lstStyle/>
        <a:p>
          <a:r>
            <a:rPr lang="en-US" dirty="0" err="1" smtClean="0">
              <a:hlinkClick xmlns:r="http://schemas.openxmlformats.org/officeDocument/2006/relationships" r:id="rId2"/>
            </a:rPr>
            <a:t>Harmeet</a:t>
          </a:r>
          <a:r>
            <a:rPr lang="en-US" dirty="0" smtClean="0">
              <a:hlinkClick xmlns:r="http://schemas.openxmlformats.org/officeDocument/2006/relationships" r:id="rId2"/>
            </a:rPr>
            <a:t> </a:t>
          </a:r>
          <a:r>
            <a:rPr lang="en-US" dirty="0" err="1" smtClean="0">
              <a:hlinkClick xmlns:r="http://schemas.openxmlformats.org/officeDocument/2006/relationships" r:id="rId2"/>
            </a:rPr>
            <a:t>singh</a:t>
          </a:r>
          <a:r>
            <a:rPr lang="en-US" dirty="0" smtClean="0">
              <a:hlinkClick xmlns:r="http://schemas.openxmlformats.org/officeDocument/2006/relationships" r:id="rId2"/>
            </a:rPr>
            <a:t>  :     http</a:t>
          </a:r>
          <a:r>
            <a:rPr lang="en-US" dirty="0">
              <a:hlinkClick xmlns:r="http://schemas.openxmlformats.org/officeDocument/2006/relationships" r:id="rId2"/>
            </a:rPr>
            <a:t>://github.com/Harmeet732008</a:t>
          </a:r>
          <a:endParaRPr lang="en-US" dirty="0"/>
        </a:p>
      </dgm:t>
    </dgm:pt>
    <dgm:pt modelId="{6FF790E6-9B03-4D0B-8626-03E4FCC1D1D9}" type="parTrans" cxnId="{87FD80C4-32EA-42A3-B15E-2565439D1568}">
      <dgm:prSet/>
      <dgm:spPr/>
      <dgm:t>
        <a:bodyPr/>
        <a:lstStyle/>
        <a:p>
          <a:endParaRPr lang="en-US"/>
        </a:p>
      </dgm:t>
    </dgm:pt>
    <dgm:pt modelId="{19C7326A-28AD-4DB2-B9A7-3609312CC630}" type="sibTrans" cxnId="{87FD80C4-32EA-42A3-B15E-2565439D1568}">
      <dgm:prSet/>
      <dgm:spPr/>
      <dgm:t>
        <a:bodyPr/>
        <a:lstStyle/>
        <a:p>
          <a:endParaRPr lang="en-US"/>
        </a:p>
      </dgm:t>
    </dgm:pt>
    <dgm:pt modelId="{69850D27-020E-495E-B8B8-AF8CCF8C93D2}">
      <dgm:prSet/>
      <dgm:spPr/>
      <dgm:t>
        <a:bodyPr/>
        <a:lstStyle/>
        <a:p>
          <a:r>
            <a:rPr lang="en-US" dirty="0" err="1" smtClean="0">
              <a:hlinkClick xmlns:r="http://schemas.openxmlformats.org/officeDocument/2006/relationships" r:id="rId3"/>
            </a:rPr>
            <a:t>Ishika</a:t>
          </a:r>
          <a:r>
            <a:rPr lang="en-US" dirty="0" smtClean="0">
              <a:hlinkClick xmlns:r="http://schemas.openxmlformats.org/officeDocument/2006/relationships" r:id="rId3"/>
            </a:rPr>
            <a:t> </a:t>
          </a:r>
          <a:r>
            <a:rPr lang="en-US" dirty="0" err="1" smtClean="0">
              <a:hlinkClick xmlns:r="http://schemas.openxmlformats.org/officeDocument/2006/relationships" r:id="rId3"/>
            </a:rPr>
            <a:t>kumar</a:t>
          </a:r>
          <a:r>
            <a:rPr lang="en-US" dirty="0" smtClean="0">
              <a:hlinkClick xmlns:r="http://schemas.openxmlformats.org/officeDocument/2006/relationships" r:id="rId3"/>
            </a:rPr>
            <a:t>    :     https</a:t>
          </a:r>
          <a:r>
            <a:rPr lang="en-US" dirty="0">
              <a:hlinkClick xmlns:r="http://schemas.openxmlformats.org/officeDocument/2006/relationships" r:id="rId3"/>
            </a:rPr>
            <a:t>://github.com/ishikakumar227-sys</a:t>
          </a:r>
          <a:endParaRPr lang="en-US" dirty="0"/>
        </a:p>
      </dgm:t>
    </dgm:pt>
    <dgm:pt modelId="{6C67AF60-F925-4A2F-B35C-C9B4954DAFD4}" type="parTrans" cxnId="{2645E8AC-3C18-437E-829B-D43F397CDC14}">
      <dgm:prSet/>
      <dgm:spPr/>
      <dgm:t>
        <a:bodyPr/>
        <a:lstStyle/>
        <a:p>
          <a:endParaRPr lang="en-US"/>
        </a:p>
      </dgm:t>
    </dgm:pt>
    <dgm:pt modelId="{E1B377B5-16BC-46FB-89C6-9B8EAF55F73E}" type="sibTrans" cxnId="{2645E8AC-3C18-437E-829B-D43F397CDC14}">
      <dgm:prSet/>
      <dgm:spPr/>
      <dgm:t>
        <a:bodyPr/>
        <a:lstStyle/>
        <a:p>
          <a:endParaRPr lang="en-US"/>
        </a:p>
      </dgm:t>
    </dgm:pt>
    <dgm:pt modelId="{5865ED12-E9DD-48A5-8DDB-AFCB375FA32D}">
      <dgm:prSet/>
      <dgm:spPr/>
      <dgm:t>
        <a:bodyPr/>
        <a:lstStyle/>
        <a:p>
          <a:r>
            <a:rPr lang="en-US" dirty="0" err="1" smtClean="0">
              <a:hlinkClick xmlns:r="http://schemas.openxmlformats.org/officeDocument/2006/relationships" r:id="rId4"/>
            </a:rPr>
            <a:t>Ishvir</a:t>
          </a:r>
          <a:r>
            <a:rPr lang="en-US" dirty="0" smtClean="0">
              <a:hlinkClick xmlns:r="http://schemas.openxmlformats.org/officeDocument/2006/relationships" r:id="rId4"/>
            </a:rPr>
            <a:t> Singh      : https</a:t>
          </a:r>
          <a:r>
            <a:rPr lang="en-US" dirty="0">
              <a:hlinkClick xmlns:r="http://schemas.openxmlformats.org/officeDocument/2006/relationships" r:id="rId4"/>
            </a:rPr>
            <a:t>://github.com/ishvir292007</a:t>
          </a:r>
          <a:endParaRPr lang="en-US" dirty="0"/>
        </a:p>
      </dgm:t>
    </dgm:pt>
    <dgm:pt modelId="{B4A41331-ADB8-4945-A5D9-CA52D239B1EB}" type="parTrans" cxnId="{E06620AA-2C71-43DC-88A1-07D2B14C8C1A}">
      <dgm:prSet/>
      <dgm:spPr/>
      <dgm:t>
        <a:bodyPr/>
        <a:lstStyle/>
        <a:p>
          <a:endParaRPr lang="en-US"/>
        </a:p>
      </dgm:t>
    </dgm:pt>
    <dgm:pt modelId="{67B704DD-6356-4522-A359-A24638F16E0F}" type="sibTrans" cxnId="{E06620AA-2C71-43DC-88A1-07D2B14C8C1A}">
      <dgm:prSet/>
      <dgm:spPr/>
      <dgm:t>
        <a:bodyPr/>
        <a:lstStyle/>
        <a:p>
          <a:endParaRPr lang="en-US"/>
        </a:p>
      </dgm:t>
    </dgm:pt>
    <dgm:pt modelId="{335F919A-A828-4150-A469-8B0F47B8E808}">
      <dgm:prSet/>
      <dgm:spPr/>
      <dgm:t>
        <a:bodyPr/>
        <a:lstStyle/>
        <a:p>
          <a:r>
            <a:rPr lang="en-US" dirty="0" err="1" smtClean="0">
              <a:hlinkClick xmlns:r="http://schemas.openxmlformats.org/officeDocument/2006/relationships" r:id="rId5"/>
            </a:rPr>
            <a:t>Gagan</a:t>
          </a:r>
          <a:r>
            <a:rPr lang="en-US" dirty="0" smtClean="0">
              <a:hlinkClick xmlns:r="http://schemas.openxmlformats.org/officeDocument/2006/relationships" r:id="rId5"/>
            </a:rPr>
            <a:t> </a:t>
          </a:r>
          <a:r>
            <a:rPr lang="en-US" dirty="0" err="1" smtClean="0">
              <a:hlinkClick xmlns:r="http://schemas.openxmlformats.org/officeDocument/2006/relationships" r:id="rId5"/>
            </a:rPr>
            <a:t>preet</a:t>
          </a:r>
          <a:r>
            <a:rPr lang="en-US" dirty="0" smtClean="0">
              <a:hlinkClick xmlns:r="http://schemas.openxmlformats.org/officeDocument/2006/relationships" r:id="rId5"/>
            </a:rPr>
            <a:t>    : https</a:t>
          </a:r>
          <a:r>
            <a:rPr lang="en-US" dirty="0">
              <a:hlinkClick xmlns:r="http://schemas.openxmlformats.org/officeDocument/2006/relationships" r:id="rId5"/>
            </a:rPr>
            <a:t>://github.com/gaganpreetkaur914-sudo</a:t>
          </a:r>
          <a:endParaRPr lang="en-US" dirty="0"/>
        </a:p>
      </dgm:t>
    </dgm:pt>
    <dgm:pt modelId="{08D4D076-B96C-4826-A6E6-450DAD4CE10D}" type="parTrans" cxnId="{4118E58B-CD67-405A-9B9C-4F8C547822C9}">
      <dgm:prSet/>
      <dgm:spPr/>
      <dgm:t>
        <a:bodyPr/>
        <a:lstStyle/>
        <a:p>
          <a:endParaRPr lang="en-US"/>
        </a:p>
      </dgm:t>
    </dgm:pt>
    <dgm:pt modelId="{8B221ADD-5BDB-4DB1-AE98-927F2B74BAFC}" type="sibTrans" cxnId="{4118E58B-CD67-405A-9B9C-4F8C547822C9}">
      <dgm:prSet/>
      <dgm:spPr/>
      <dgm:t>
        <a:bodyPr/>
        <a:lstStyle/>
        <a:p>
          <a:endParaRPr lang="en-US"/>
        </a:p>
      </dgm:t>
    </dgm:pt>
    <dgm:pt modelId="{0192E5DE-90A2-4C81-8264-F294E5C6BD77}">
      <dgm:prSet/>
      <dgm:spPr/>
      <dgm:t>
        <a:bodyPr/>
        <a:lstStyle/>
        <a:p>
          <a:r>
            <a:rPr lang="en-US" dirty="0" err="1" smtClean="0">
              <a:hlinkClick xmlns:r="http://schemas.openxmlformats.org/officeDocument/2006/relationships" r:id="rId6"/>
            </a:rPr>
            <a:t>Ashwinder</a:t>
          </a:r>
          <a:r>
            <a:rPr lang="en-US" dirty="0" smtClean="0">
              <a:hlinkClick xmlns:r="http://schemas.openxmlformats.org/officeDocument/2006/relationships" r:id="rId6"/>
            </a:rPr>
            <a:t> </a:t>
          </a:r>
          <a:r>
            <a:rPr lang="en-US" dirty="0" err="1" smtClean="0">
              <a:hlinkClick xmlns:r="http://schemas.openxmlformats.org/officeDocument/2006/relationships" r:id="rId6"/>
            </a:rPr>
            <a:t>kaur</a:t>
          </a:r>
          <a:r>
            <a:rPr lang="en-US" dirty="0" smtClean="0">
              <a:hlinkClick xmlns:r="http://schemas.openxmlformats.org/officeDocument/2006/relationships" r:id="rId6"/>
            </a:rPr>
            <a:t> : https</a:t>
          </a:r>
          <a:r>
            <a:rPr lang="en-US" dirty="0">
              <a:hlinkClick xmlns:r="http://schemas.openxmlformats.org/officeDocument/2006/relationships" r:id="rId6"/>
            </a:rPr>
            <a:t>://github.com/kaurashwinder06-cell</a:t>
          </a:r>
          <a:endParaRPr lang="en-US" dirty="0"/>
        </a:p>
      </dgm:t>
    </dgm:pt>
    <dgm:pt modelId="{CB61CD04-CDC5-4AA6-BA06-DF25F0960403}" type="parTrans" cxnId="{B9F7AE67-5D19-4C6A-9AB0-AB719321D2BF}">
      <dgm:prSet/>
      <dgm:spPr/>
      <dgm:t>
        <a:bodyPr/>
        <a:lstStyle/>
        <a:p>
          <a:endParaRPr lang="en-US"/>
        </a:p>
      </dgm:t>
    </dgm:pt>
    <dgm:pt modelId="{A5BF4E43-C972-4221-872E-4FF3B2C29972}" type="sibTrans" cxnId="{B9F7AE67-5D19-4C6A-9AB0-AB719321D2BF}">
      <dgm:prSet/>
      <dgm:spPr/>
      <dgm:t>
        <a:bodyPr/>
        <a:lstStyle/>
        <a:p>
          <a:endParaRPr lang="en-US"/>
        </a:p>
      </dgm:t>
    </dgm:pt>
    <dgm:pt modelId="{80B81C19-61A6-4DF7-B16C-D00DD81FBD6B}">
      <dgm:prSet/>
      <dgm:spPr/>
      <dgm:t>
        <a:bodyPr/>
        <a:lstStyle/>
        <a:p>
          <a:r>
            <a:rPr lang="en-US" dirty="0" err="1" smtClean="0">
              <a:hlinkClick xmlns:r="http://schemas.openxmlformats.org/officeDocument/2006/relationships" r:id="rId7"/>
            </a:rPr>
            <a:t>Gurleen</a:t>
          </a:r>
          <a:r>
            <a:rPr lang="en-US" dirty="0" smtClean="0">
              <a:hlinkClick xmlns:r="http://schemas.openxmlformats.org/officeDocument/2006/relationships" r:id="rId7"/>
            </a:rPr>
            <a:t> </a:t>
          </a:r>
          <a:r>
            <a:rPr lang="en-US" dirty="0" err="1" smtClean="0">
              <a:hlinkClick xmlns:r="http://schemas.openxmlformats.org/officeDocument/2006/relationships" r:id="rId7"/>
            </a:rPr>
            <a:t>kaur</a:t>
          </a:r>
          <a:r>
            <a:rPr lang="en-US" dirty="0" smtClean="0">
              <a:hlinkClick xmlns:r="http://schemas.openxmlformats.org/officeDocument/2006/relationships" r:id="rId7"/>
            </a:rPr>
            <a:t>    : https</a:t>
          </a:r>
          <a:r>
            <a:rPr lang="en-US" dirty="0">
              <a:hlinkClick xmlns:r="http://schemas.openxmlformats.org/officeDocument/2006/relationships" r:id="rId7"/>
            </a:rPr>
            <a:t>://github.com/Gurleenkaur202</a:t>
          </a:r>
          <a:endParaRPr lang="en-US" dirty="0"/>
        </a:p>
      </dgm:t>
    </dgm:pt>
    <dgm:pt modelId="{3E190A1F-C49D-41DA-82E5-49FE45F96706}" type="parTrans" cxnId="{93C34B8D-766B-4817-9C26-25C0BA3F4571}">
      <dgm:prSet/>
      <dgm:spPr/>
      <dgm:t>
        <a:bodyPr/>
        <a:lstStyle/>
        <a:p>
          <a:endParaRPr lang="en-US"/>
        </a:p>
      </dgm:t>
    </dgm:pt>
    <dgm:pt modelId="{23E1A90D-8843-4CBE-8B5C-964827190A00}" type="sibTrans" cxnId="{93C34B8D-766B-4817-9C26-25C0BA3F4571}">
      <dgm:prSet/>
      <dgm:spPr/>
      <dgm:t>
        <a:bodyPr/>
        <a:lstStyle/>
        <a:p>
          <a:endParaRPr lang="en-US"/>
        </a:p>
      </dgm:t>
    </dgm:pt>
    <dgm:pt modelId="{DF607432-2493-4019-8380-878EB7FE5FF7}">
      <dgm:prSet/>
      <dgm:spPr/>
      <dgm:t>
        <a:bodyPr/>
        <a:lstStyle/>
        <a:p>
          <a:r>
            <a:rPr lang="en-US" dirty="0" err="1" smtClean="0">
              <a:hlinkClick xmlns:r="http://schemas.openxmlformats.org/officeDocument/2006/relationships" r:id="rId8"/>
            </a:rPr>
            <a:t>Gurkirat</a:t>
          </a:r>
          <a:r>
            <a:rPr lang="en-US" dirty="0" smtClean="0">
              <a:hlinkClick xmlns:r="http://schemas.openxmlformats.org/officeDocument/2006/relationships" r:id="rId8"/>
            </a:rPr>
            <a:t> Singh : https</a:t>
          </a:r>
          <a:r>
            <a:rPr lang="en-US" dirty="0">
              <a:hlinkClick xmlns:r="http://schemas.openxmlformats.org/officeDocument/2006/relationships" r:id="rId8"/>
            </a:rPr>
            <a:t>://github.com/gurkirat13-04</a:t>
          </a:r>
          <a:endParaRPr lang="en-US" dirty="0"/>
        </a:p>
      </dgm:t>
    </dgm:pt>
    <dgm:pt modelId="{6647CA67-0F82-4580-8000-F96B56C9D4AB}" type="parTrans" cxnId="{BE58671F-F26B-449D-AA5D-5A037E1707EE}">
      <dgm:prSet/>
      <dgm:spPr/>
      <dgm:t>
        <a:bodyPr/>
        <a:lstStyle/>
        <a:p>
          <a:endParaRPr lang="en-US"/>
        </a:p>
      </dgm:t>
    </dgm:pt>
    <dgm:pt modelId="{B240A6E6-3BBA-473A-8690-1BA497660B16}" type="sibTrans" cxnId="{BE58671F-F26B-449D-AA5D-5A037E1707EE}">
      <dgm:prSet/>
      <dgm:spPr/>
      <dgm:t>
        <a:bodyPr/>
        <a:lstStyle/>
        <a:p>
          <a:endParaRPr lang="en-US"/>
        </a:p>
      </dgm:t>
    </dgm:pt>
    <dgm:pt modelId="{68E9D4BE-CD40-472B-8A33-353CE1F348DE}">
      <dgm:prSet/>
      <dgm:spPr/>
      <dgm:t>
        <a:bodyPr/>
        <a:lstStyle/>
        <a:p>
          <a:r>
            <a:rPr lang="en-US" dirty="0" smtClean="0">
              <a:hlinkClick xmlns:r="http://schemas.openxmlformats.org/officeDocument/2006/relationships" r:id="rId9"/>
            </a:rPr>
            <a:t>Dimple   : https</a:t>
          </a:r>
          <a:r>
            <a:rPr lang="en-US" dirty="0">
              <a:hlinkClick xmlns:r="http://schemas.openxmlformats.org/officeDocument/2006/relationships" r:id="rId9"/>
            </a:rPr>
            <a:t>://github.com/Dimple041007</a:t>
          </a:r>
          <a:endParaRPr lang="en-US" dirty="0"/>
        </a:p>
      </dgm:t>
    </dgm:pt>
    <dgm:pt modelId="{28AD8730-9B5E-4AB1-871F-541388716B63}" type="parTrans" cxnId="{F2404324-94D1-4795-996C-42A4E1E1A99A}">
      <dgm:prSet/>
      <dgm:spPr/>
      <dgm:t>
        <a:bodyPr/>
        <a:lstStyle/>
        <a:p>
          <a:endParaRPr lang="en-US"/>
        </a:p>
      </dgm:t>
    </dgm:pt>
    <dgm:pt modelId="{34C2B689-EAEC-4FB2-91E7-A5D439AAF109}" type="sibTrans" cxnId="{F2404324-94D1-4795-996C-42A4E1E1A99A}">
      <dgm:prSet/>
      <dgm:spPr/>
      <dgm:t>
        <a:bodyPr/>
        <a:lstStyle/>
        <a:p>
          <a:endParaRPr lang="en-US"/>
        </a:p>
      </dgm:t>
    </dgm:pt>
    <dgm:pt modelId="{83EF1534-CE75-4559-8022-E65F8371417B}">
      <dgm:prSet/>
      <dgm:spPr/>
      <dgm:t>
        <a:bodyPr/>
        <a:lstStyle/>
        <a:p>
          <a:r>
            <a:rPr lang="en-US" dirty="0" err="1" smtClean="0">
              <a:hlinkClick xmlns:r="http://schemas.openxmlformats.org/officeDocument/2006/relationships" r:id="rId10"/>
            </a:rPr>
            <a:t>Jaismeen</a:t>
          </a:r>
          <a:r>
            <a:rPr lang="en-US" dirty="0" smtClean="0">
              <a:hlinkClick xmlns:r="http://schemas.openxmlformats.org/officeDocument/2006/relationships" r:id="rId10"/>
            </a:rPr>
            <a:t> </a:t>
          </a:r>
          <a:r>
            <a:rPr lang="en-US" dirty="0" err="1" smtClean="0">
              <a:hlinkClick xmlns:r="http://schemas.openxmlformats.org/officeDocument/2006/relationships" r:id="rId10"/>
            </a:rPr>
            <a:t>kaur</a:t>
          </a:r>
          <a:r>
            <a:rPr lang="en-US" dirty="0" smtClean="0">
              <a:hlinkClick xmlns:r="http://schemas.openxmlformats.org/officeDocument/2006/relationships" r:id="rId10"/>
            </a:rPr>
            <a:t> : https</a:t>
          </a:r>
          <a:r>
            <a:rPr lang="en-US" dirty="0">
              <a:hlinkClick xmlns:r="http://schemas.openxmlformats.org/officeDocument/2006/relationships" r:id="rId10"/>
            </a:rPr>
            <a:t>://github.com/Jaismeen-123</a:t>
          </a:r>
          <a:endParaRPr lang="en-US" dirty="0"/>
        </a:p>
      </dgm:t>
    </dgm:pt>
    <dgm:pt modelId="{5FF636BC-9EAF-45CD-9CC1-D4314CDB1791}" type="parTrans" cxnId="{E2ECED12-DF12-4C63-B49A-23B30F6CF904}">
      <dgm:prSet/>
      <dgm:spPr/>
      <dgm:t>
        <a:bodyPr/>
        <a:lstStyle/>
        <a:p>
          <a:endParaRPr lang="en-US"/>
        </a:p>
      </dgm:t>
    </dgm:pt>
    <dgm:pt modelId="{E9BC09AF-7DAE-4E39-8E70-AAD101478900}" type="sibTrans" cxnId="{E2ECED12-DF12-4C63-B49A-23B30F6CF904}">
      <dgm:prSet/>
      <dgm:spPr/>
      <dgm:t>
        <a:bodyPr/>
        <a:lstStyle/>
        <a:p>
          <a:endParaRPr lang="en-US"/>
        </a:p>
      </dgm:t>
    </dgm:pt>
    <dgm:pt modelId="{5594F199-2385-46E7-A903-48250634676F}">
      <dgm:prSet/>
      <dgm:spPr/>
      <dgm:t>
        <a:bodyPr/>
        <a:lstStyle/>
        <a:p>
          <a:r>
            <a:rPr lang="en-IN" dirty="0" err="1" smtClean="0">
              <a:hlinkClick xmlns:r="http://schemas.openxmlformats.org/officeDocument/2006/relationships" r:id="rId11"/>
            </a:rPr>
            <a:t>Amandeep</a:t>
          </a:r>
          <a:r>
            <a:rPr lang="en-IN" dirty="0" smtClean="0">
              <a:hlinkClick xmlns:r="http://schemas.openxmlformats.org/officeDocument/2006/relationships" r:id="rId11"/>
            </a:rPr>
            <a:t> </a:t>
          </a:r>
          <a:r>
            <a:rPr lang="en-IN" dirty="0" err="1" smtClean="0">
              <a:hlinkClick xmlns:r="http://schemas.openxmlformats.org/officeDocument/2006/relationships" r:id="rId11"/>
            </a:rPr>
            <a:t>singh</a:t>
          </a:r>
          <a:r>
            <a:rPr lang="en-IN" dirty="0" smtClean="0">
              <a:hlinkClick xmlns:r="http://schemas.openxmlformats.org/officeDocument/2006/relationships" r:id="rId11"/>
            </a:rPr>
            <a:t> : Amandeep1808 · </a:t>
          </a:r>
          <a:r>
            <a:rPr lang="en-IN" dirty="0" err="1" smtClean="0">
              <a:hlinkClick xmlns:r="http://schemas.openxmlformats.org/officeDocument/2006/relationships" r:id="rId11"/>
            </a:rPr>
            <a:t>GitHub</a:t>
          </a:r>
          <a:endParaRPr lang="en-US" dirty="0"/>
        </a:p>
      </dgm:t>
    </dgm:pt>
    <dgm:pt modelId="{3453D63A-47B6-4A7C-9C92-4D808CADE525}" type="parTrans" cxnId="{F116AE43-E65C-4B1F-8739-B912F4291BA6}">
      <dgm:prSet/>
      <dgm:spPr/>
      <dgm:t>
        <a:bodyPr/>
        <a:lstStyle/>
        <a:p>
          <a:endParaRPr lang="en-US"/>
        </a:p>
      </dgm:t>
    </dgm:pt>
    <dgm:pt modelId="{B550564C-FF7C-4A15-986C-34C57F879948}" type="sibTrans" cxnId="{F116AE43-E65C-4B1F-8739-B912F4291BA6}">
      <dgm:prSet/>
      <dgm:spPr/>
      <dgm:t>
        <a:bodyPr/>
        <a:lstStyle/>
        <a:p>
          <a:endParaRPr lang="en-US"/>
        </a:p>
      </dgm:t>
    </dgm:pt>
    <dgm:pt modelId="{56B613CD-B60F-4543-8608-ED455EC917AB}">
      <dgm:prSet/>
      <dgm:spPr/>
      <dgm:t>
        <a:bodyPr/>
        <a:lstStyle/>
        <a:p>
          <a:r>
            <a:rPr lang="en-US" dirty="0" err="1" smtClean="0">
              <a:hlinkClick xmlns:r="http://schemas.openxmlformats.org/officeDocument/2006/relationships" r:id="rId12"/>
            </a:rPr>
            <a:t>Arshpreet</a:t>
          </a:r>
          <a:r>
            <a:rPr lang="en-US" dirty="0" smtClean="0">
              <a:hlinkClick xmlns:r="http://schemas.openxmlformats.org/officeDocument/2006/relationships" r:id="rId12"/>
            </a:rPr>
            <a:t> Singh : https</a:t>
          </a:r>
          <a:r>
            <a:rPr lang="en-US" dirty="0">
              <a:hlinkClick xmlns:r="http://schemas.openxmlformats.org/officeDocument/2006/relationships" r:id="rId12"/>
            </a:rPr>
            <a:t>://github.com/arshpreetsinghb4-creator</a:t>
          </a:r>
          <a:endParaRPr lang="en-US" dirty="0"/>
        </a:p>
      </dgm:t>
    </dgm:pt>
    <dgm:pt modelId="{560BEA1A-A681-4A53-BB6D-0DA9F31D5454}" type="parTrans" cxnId="{1FB383AE-E43F-4AD8-9D52-FBD2405B4020}">
      <dgm:prSet/>
      <dgm:spPr/>
      <dgm:t>
        <a:bodyPr/>
        <a:lstStyle/>
        <a:p>
          <a:endParaRPr lang="en-US"/>
        </a:p>
      </dgm:t>
    </dgm:pt>
    <dgm:pt modelId="{23486D6E-5039-494A-B16C-A7976F8FF7AB}" type="sibTrans" cxnId="{1FB383AE-E43F-4AD8-9D52-FBD2405B4020}">
      <dgm:prSet/>
      <dgm:spPr/>
      <dgm:t>
        <a:bodyPr/>
        <a:lstStyle/>
        <a:p>
          <a:endParaRPr lang="en-US"/>
        </a:p>
      </dgm:t>
    </dgm:pt>
    <dgm:pt modelId="{568964A0-1D46-498D-8139-ED2B9D9CA43A}" type="pres">
      <dgm:prSet presAssocID="{D3D67C51-586C-440A-97C4-CD02690A5C5C}" presName="vert0" presStyleCnt="0">
        <dgm:presLayoutVars>
          <dgm:dir/>
          <dgm:animOne val="branch"/>
          <dgm:animLvl val="lvl"/>
        </dgm:presLayoutVars>
      </dgm:prSet>
      <dgm:spPr/>
      <dgm:t>
        <a:bodyPr/>
        <a:lstStyle/>
        <a:p>
          <a:endParaRPr lang="en-IN"/>
        </a:p>
      </dgm:t>
    </dgm:pt>
    <dgm:pt modelId="{BDD5C944-BE29-4912-81F3-2E8E9BD5E150}" type="pres">
      <dgm:prSet presAssocID="{9CEE1D44-1EEB-4F65-A39D-46FE839068EB}" presName="thickLine" presStyleLbl="alignNode1" presStyleIdx="0" presStyleCnt="12"/>
      <dgm:spPr/>
    </dgm:pt>
    <dgm:pt modelId="{377956D6-EF6A-4173-AB36-EAB7D2441083}" type="pres">
      <dgm:prSet presAssocID="{9CEE1D44-1EEB-4F65-A39D-46FE839068EB}" presName="horz1" presStyleCnt="0"/>
      <dgm:spPr/>
    </dgm:pt>
    <dgm:pt modelId="{25E2091E-DA44-4767-ACC7-9780070CB92B}" type="pres">
      <dgm:prSet presAssocID="{9CEE1D44-1EEB-4F65-A39D-46FE839068EB}" presName="tx1" presStyleLbl="revTx" presStyleIdx="0" presStyleCnt="12"/>
      <dgm:spPr/>
      <dgm:t>
        <a:bodyPr/>
        <a:lstStyle/>
        <a:p>
          <a:endParaRPr lang="en-IN"/>
        </a:p>
      </dgm:t>
    </dgm:pt>
    <dgm:pt modelId="{4F45CC78-8AC1-45BF-AA5D-31B81C1C99FC}" type="pres">
      <dgm:prSet presAssocID="{9CEE1D44-1EEB-4F65-A39D-46FE839068EB}" presName="vert1" presStyleCnt="0"/>
      <dgm:spPr/>
    </dgm:pt>
    <dgm:pt modelId="{A5373285-52D0-416E-A892-883D01C9F7E8}" type="pres">
      <dgm:prSet presAssocID="{7408BC5D-02B5-475F-8724-6FC07142EDED}" presName="thickLine" presStyleLbl="alignNode1" presStyleIdx="1" presStyleCnt="12"/>
      <dgm:spPr/>
    </dgm:pt>
    <dgm:pt modelId="{F5B92F36-FE08-475A-9261-83F5448B788D}" type="pres">
      <dgm:prSet presAssocID="{7408BC5D-02B5-475F-8724-6FC07142EDED}" presName="horz1" presStyleCnt="0"/>
      <dgm:spPr/>
    </dgm:pt>
    <dgm:pt modelId="{F3D71116-15D0-4B2D-9075-A3DC48F31619}" type="pres">
      <dgm:prSet presAssocID="{7408BC5D-02B5-475F-8724-6FC07142EDED}" presName="tx1" presStyleLbl="revTx" presStyleIdx="1" presStyleCnt="12"/>
      <dgm:spPr/>
      <dgm:t>
        <a:bodyPr/>
        <a:lstStyle/>
        <a:p>
          <a:endParaRPr lang="en-IN"/>
        </a:p>
      </dgm:t>
    </dgm:pt>
    <dgm:pt modelId="{2D5EB0B7-43B8-48C1-87CC-85C0A5ABBC82}" type="pres">
      <dgm:prSet presAssocID="{7408BC5D-02B5-475F-8724-6FC07142EDED}" presName="vert1" presStyleCnt="0"/>
      <dgm:spPr/>
    </dgm:pt>
    <dgm:pt modelId="{3285D4A3-3C13-4C6E-BF82-3E7AE2C7CBB3}" type="pres">
      <dgm:prSet presAssocID="{69850D27-020E-495E-B8B8-AF8CCF8C93D2}" presName="thickLine" presStyleLbl="alignNode1" presStyleIdx="2" presStyleCnt="12"/>
      <dgm:spPr/>
    </dgm:pt>
    <dgm:pt modelId="{D1FBE53B-4C7D-44C6-9823-6FAFCB2C064C}" type="pres">
      <dgm:prSet presAssocID="{69850D27-020E-495E-B8B8-AF8CCF8C93D2}" presName="horz1" presStyleCnt="0"/>
      <dgm:spPr/>
    </dgm:pt>
    <dgm:pt modelId="{10CF2208-8107-4D42-9A96-6F4C9F9F73B8}" type="pres">
      <dgm:prSet presAssocID="{69850D27-020E-495E-B8B8-AF8CCF8C93D2}" presName="tx1" presStyleLbl="revTx" presStyleIdx="2" presStyleCnt="12"/>
      <dgm:spPr/>
      <dgm:t>
        <a:bodyPr/>
        <a:lstStyle/>
        <a:p>
          <a:endParaRPr lang="en-IN"/>
        </a:p>
      </dgm:t>
    </dgm:pt>
    <dgm:pt modelId="{EFAF4DD3-6648-48EB-A22A-2828733ED42B}" type="pres">
      <dgm:prSet presAssocID="{69850D27-020E-495E-B8B8-AF8CCF8C93D2}" presName="vert1" presStyleCnt="0"/>
      <dgm:spPr/>
    </dgm:pt>
    <dgm:pt modelId="{8D8398F5-70B4-42C6-859B-CFD70AF786B7}" type="pres">
      <dgm:prSet presAssocID="{5865ED12-E9DD-48A5-8DDB-AFCB375FA32D}" presName="thickLine" presStyleLbl="alignNode1" presStyleIdx="3" presStyleCnt="12"/>
      <dgm:spPr/>
    </dgm:pt>
    <dgm:pt modelId="{18B3A170-F289-4242-89B7-D6683CC908D7}" type="pres">
      <dgm:prSet presAssocID="{5865ED12-E9DD-48A5-8DDB-AFCB375FA32D}" presName="horz1" presStyleCnt="0"/>
      <dgm:spPr/>
    </dgm:pt>
    <dgm:pt modelId="{DE01D32F-EA52-4DF7-8A02-FD9319C709C7}" type="pres">
      <dgm:prSet presAssocID="{5865ED12-E9DD-48A5-8DDB-AFCB375FA32D}" presName="tx1" presStyleLbl="revTx" presStyleIdx="3" presStyleCnt="12"/>
      <dgm:spPr/>
      <dgm:t>
        <a:bodyPr/>
        <a:lstStyle/>
        <a:p>
          <a:endParaRPr lang="en-IN"/>
        </a:p>
      </dgm:t>
    </dgm:pt>
    <dgm:pt modelId="{EDE64533-F6B1-4564-965E-4931B96A583E}" type="pres">
      <dgm:prSet presAssocID="{5865ED12-E9DD-48A5-8DDB-AFCB375FA32D}" presName="vert1" presStyleCnt="0"/>
      <dgm:spPr/>
    </dgm:pt>
    <dgm:pt modelId="{5A525CF2-8DC3-40AB-B89F-6416528E8DF5}" type="pres">
      <dgm:prSet presAssocID="{335F919A-A828-4150-A469-8B0F47B8E808}" presName="thickLine" presStyleLbl="alignNode1" presStyleIdx="4" presStyleCnt="12"/>
      <dgm:spPr/>
    </dgm:pt>
    <dgm:pt modelId="{C7C72B74-E716-45A4-8524-6AD1050AC0E2}" type="pres">
      <dgm:prSet presAssocID="{335F919A-A828-4150-A469-8B0F47B8E808}" presName="horz1" presStyleCnt="0"/>
      <dgm:spPr/>
    </dgm:pt>
    <dgm:pt modelId="{230B60D0-C6A4-40FB-9668-DA86CC48D5FC}" type="pres">
      <dgm:prSet presAssocID="{335F919A-A828-4150-A469-8B0F47B8E808}" presName="tx1" presStyleLbl="revTx" presStyleIdx="4" presStyleCnt="12"/>
      <dgm:spPr/>
      <dgm:t>
        <a:bodyPr/>
        <a:lstStyle/>
        <a:p>
          <a:endParaRPr lang="en-IN"/>
        </a:p>
      </dgm:t>
    </dgm:pt>
    <dgm:pt modelId="{7951B586-FE14-4262-87DF-35242AA307F7}" type="pres">
      <dgm:prSet presAssocID="{335F919A-A828-4150-A469-8B0F47B8E808}" presName="vert1" presStyleCnt="0"/>
      <dgm:spPr/>
    </dgm:pt>
    <dgm:pt modelId="{4D992764-A04E-4152-A542-84B20F5BEE91}" type="pres">
      <dgm:prSet presAssocID="{0192E5DE-90A2-4C81-8264-F294E5C6BD77}" presName="thickLine" presStyleLbl="alignNode1" presStyleIdx="5" presStyleCnt="12"/>
      <dgm:spPr/>
    </dgm:pt>
    <dgm:pt modelId="{92BD4132-3231-49DB-934E-3631DD0607DE}" type="pres">
      <dgm:prSet presAssocID="{0192E5DE-90A2-4C81-8264-F294E5C6BD77}" presName="horz1" presStyleCnt="0"/>
      <dgm:spPr/>
    </dgm:pt>
    <dgm:pt modelId="{A386AAA9-4E94-4414-B751-1DB8D780ED2D}" type="pres">
      <dgm:prSet presAssocID="{0192E5DE-90A2-4C81-8264-F294E5C6BD77}" presName="tx1" presStyleLbl="revTx" presStyleIdx="5" presStyleCnt="12"/>
      <dgm:spPr/>
      <dgm:t>
        <a:bodyPr/>
        <a:lstStyle/>
        <a:p>
          <a:endParaRPr lang="en-IN"/>
        </a:p>
      </dgm:t>
    </dgm:pt>
    <dgm:pt modelId="{6C8EBEEB-EAA0-4C35-9BC1-A02A230DFC2C}" type="pres">
      <dgm:prSet presAssocID="{0192E5DE-90A2-4C81-8264-F294E5C6BD77}" presName="vert1" presStyleCnt="0"/>
      <dgm:spPr/>
    </dgm:pt>
    <dgm:pt modelId="{C5AD9B23-2959-4E8E-A23D-9E2751EB45B4}" type="pres">
      <dgm:prSet presAssocID="{80B81C19-61A6-4DF7-B16C-D00DD81FBD6B}" presName="thickLine" presStyleLbl="alignNode1" presStyleIdx="6" presStyleCnt="12"/>
      <dgm:spPr/>
    </dgm:pt>
    <dgm:pt modelId="{814F6728-4924-4C62-A0F4-24A904EB9DB9}" type="pres">
      <dgm:prSet presAssocID="{80B81C19-61A6-4DF7-B16C-D00DD81FBD6B}" presName="horz1" presStyleCnt="0"/>
      <dgm:spPr/>
    </dgm:pt>
    <dgm:pt modelId="{5D90294C-92C8-414F-9B3A-EB54FC0A4C4B}" type="pres">
      <dgm:prSet presAssocID="{80B81C19-61A6-4DF7-B16C-D00DD81FBD6B}" presName="tx1" presStyleLbl="revTx" presStyleIdx="6" presStyleCnt="12"/>
      <dgm:spPr/>
      <dgm:t>
        <a:bodyPr/>
        <a:lstStyle/>
        <a:p>
          <a:endParaRPr lang="en-IN"/>
        </a:p>
      </dgm:t>
    </dgm:pt>
    <dgm:pt modelId="{F21617F3-671F-4B1E-BEE2-2ACE38BEF274}" type="pres">
      <dgm:prSet presAssocID="{80B81C19-61A6-4DF7-B16C-D00DD81FBD6B}" presName="vert1" presStyleCnt="0"/>
      <dgm:spPr/>
    </dgm:pt>
    <dgm:pt modelId="{B865CF52-D51E-4041-8249-7110AF326950}" type="pres">
      <dgm:prSet presAssocID="{DF607432-2493-4019-8380-878EB7FE5FF7}" presName="thickLine" presStyleLbl="alignNode1" presStyleIdx="7" presStyleCnt="12"/>
      <dgm:spPr/>
    </dgm:pt>
    <dgm:pt modelId="{5FB0FF02-C0EF-44D4-89DF-A08C2BACCEB9}" type="pres">
      <dgm:prSet presAssocID="{DF607432-2493-4019-8380-878EB7FE5FF7}" presName="horz1" presStyleCnt="0"/>
      <dgm:spPr/>
    </dgm:pt>
    <dgm:pt modelId="{57C442CA-AEBB-4719-9CF9-CE54D429E75E}" type="pres">
      <dgm:prSet presAssocID="{DF607432-2493-4019-8380-878EB7FE5FF7}" presName="tx1" presStyleLbl="revTx" presStyleIdx="7" presStyleCnt="12"/>
      <dgm:spPr/>
      <dgm:t>
        <a:bodyPr/>
        <a:lstStyle/>
        <a:p>
          <a:endParaRPr lang="en-IN"/>
        </a:p>
      </dgm:t>
    </dgm:pt>
    <dgm:pt modelId="{1562F3C7-6F44-488F-841D-1DBFFF0C8D2B}" type="pres">
      <dgm:prSet presAssocID="{DF607432-2493-4019-8380-878EB7FE5FF7}" presName="vert1" presStyleCnt="0"/>
      <dgm:spPr/>
    </dgm:pt>
    <dgm:pt modelId="{32005316-9742-4AA8-A4BD-8AF4B8A80F7F}" type="pres">
      <dgm:prSet presAssocID="{68E9D4BE-CD40-472B-8A33-353CE1F348DE}" presName="thickLine" presStyleLbl="alignNode1" presStyleIdx="8" presStyleCnt="12"/>
      <dgm:spPr/>
    </dgm:pt>
    <dgm:pt modelId="{583AF342-3280-483F-9E2E-0A7E2CDA029F}" type="pres">
      <dgm:prSet presAssocID="{68E9D4BE-CD40-472B-8A33-353CE1F348DE}" presName="horz1" presStyleCnt="0"/>
      <dgm:spPr/>
    </dgm:pt>
    <dgm:pt modelId="{4BEF0D6C-99F0-45BB-AB54-B257BFCCE712}" type="pres">
      <dgm:prSet presAssocID="{68E9D4BE-CD40-472B-8A33-353CE1F348DE}" presName="tx1" presStyleLbl="revTx" presStyleIdx="8" presStyleCnt="12"/>
      <dgm:spPr/>
      <dgm:t>
        <a:bodyPr/>
        <a:lstStyle/>
        <a:p>
          <a:endParaRPr lang="en-IN"/>
        </a:p>
      </dgm:t>
    </dgm:pt>
    <dgm:pt modelId="{7C4FAEAE-6849-4611-8FB1-03169B893375}" type="pres">
      <dgm:prSet presAssocID="{68E9D4BE-CD40-472B-8A33-353CE1F348DE}" presName="vert1" presStyleCnt="0"/>
      <dgm:spPr/>
    </dgm:pt>
    <dgm:pt modelId="{0F52A486-5907-46F7-A4E1-E9B6E4854468}" type="pres">
      <dgm:prSet presAssocID="{83EF1534-CE75-4559-8022-E65F8371417B}" presName="thickLine" presStyleLbl="alignNode1" presStyleIdx="9" presStyleCnt="12"/>
      <dgm:spPr/>
    </dgm:pt>
    <dgm:pt modelId="{7B7A2E00-FFC0-4DCC-82D1-0D99BFB612F6}" type="pres">
      <dgm:prSet presAssocID="{83EF1534-CE75-4559-8022-E65F8371417B}" presName="horz1" presStyleCnt="0"/>
      <dgm:spPr/>
    </dgm:pt>
    <dgm:pt modelId="{D8ADDF90-205A-4DB3-B527-DBCB90481EA8}" type="pres">
      <dgm:prSet presAssocID="{83EF1534-CE75-4559-8022-E65F8371417B}" presName="tx1" presStyleLbl="revTx" presStyleIdx="9" presStyleCnt="12"/>
      <dgm:spPr/>
      <dgm:t>
        <a:bodyPr/>
        <a:lstStyle/>
        <a:p>
          <a:endParaRPr lang="en-IN"/>
        </a:p>
      </dgm:t>
    </dgm:pt>
    <dgm:pt modelId="{FF39CA0E-F9EF-4F0E-9C7B-36AB7F2A5700}" type="pres">
      <dgm:prSet presAssocID="{83EF1534-CE75-4559-8022-E65F8371417B}" presName="vert1" presStyleCnt="0"/>
      <dgm:spPr/>
    </dgm:pt>
    <dgm:pt modelId="{51D695C2-04B8-4726-B993-8FA3677D319D}" type="pres">
      <dgm:prSet presAssocID="{5594F199-2385-46E7-A903-48250634676F}" presName="thickLine" presStyleLbl="alignNode1" presStyleIdx="10" presStyleCnt="12"/>
      <dgm:spPr/>
    </dgm:pt>
    <dgm:pt modelId="{1BC24314-7290-411C-BDC8-72B32D2BC7EE}" type="pres">
      <dgm:prSet presAssocID="{5594F199-2385-46E7-A903-48250634676F}" presName="horz1" presStyleCnt="0"/>
      <dgm:spPr/>
    </dgm:pt>
    <dgm:pt modelId="{8B1BFDC6-112C-477A-B813-621666C4434C}" type="pres">
      <dgm:prSet presAssocID="{5594F199-2385-46E7-A903-48250634676F}" presName="tx1" presStyleLbl="revTx" presStyleIdx="10" presStyleCnt="12"/>
      <dgm:spPr/>
      <dgm:t>
        <a:bodyPr/>
        <a:lstStyle/>
        <a:p>
          <a:endParaRPr lang="en-IN"/>
        </a:p>
      </dgm:t>
    </dgm:pt>
    <dgm:pt modelId="{C6E4618B-F9C3-407C-A542-53A68CA9D596}" type="pres">
      <dgm:prSet presAssocID="{5594F199-2385-46E7-A903-48250634676F}" presName="vert1" presStyleCnt="0"/>
      <dgm:spPr/>
    </dgm:pt>
    <dgm:pt modelId="{6D9BF359-CA29-4A11-A830-102D3E610FFD}" type="pres">
      <dgm:prSet presAssocID="{56B613CD-B60F-4543-8608-ED455EC917AB}" presName="thickLine" presStyleLbl="alignNode1" presStyleIdx="11" presStyleCnt="12"/>
      <dgm:spPr/>
    </dgm:pt>
    <dgm:pt modelId="{CD54A95E-9E28-4CD6-AEE0-2118A77F7E8E}" type="pres">
      <dgm:prSet presAssocID="{56B613CD-B60F-4543-8608-ED455EC917AB}" presName="horz1" presStyleCnt="0"/>
      <dgm:spPr/>
    </dgm:pt>
    <dgm:pt modelId="{223145CF-8733-4899-8D36-7679B7079AD1}" type="pres">
      <dgm:prSet presAssocID="{56B613CD-B60F-4543-8608-ED455EC917AB}" presName="tx1" presStyleLbl="revTx" presStyleIdx="11" presStyleCnt="12"/>
      <dgm:spPr/>
      <dgm:t>
        <a:bodyPr/>
        <a:lstStyle/>
        <a:p>
          <a:endParaRPr lang="en-IN"/>
        </a:p>
      </dgm:t>
    </dgm:pt>
    <dgm:pt modelId="{2EB87739-E76B-4F50-96C3-9E96CAC5EEE5}" type="pres">
      <dgm:prSet presAssocID="{56B613CD-B60F-4543-8608-ED455EC917AB}" presName="vert1" presStyleCnt="0"/>
      <dgm:spPr/>
    </dgm:pt>
  </dgm:ptLst>
  <dgm:cxnLst>
    <dgm:cxn modelId="{50E1E26D-8666-4F1E-9621-4A143D04651A}" type="presOf" srcId="{80B81C19-61A6-4DF7-B16C-D00DD81FBD6B}" destId="{5D90294C-92C8-414F-9B3A-EB54FC0A4C4B}" srcOrd="0" destOrd="0" presId="urn:microsoft.com/office/officeart/2008/layout/LinedList"/>
    <dgm:cxn modelId="{1FB383AE-E43F-4AD8-9D52-FBD2405B4020}" srcId="{D3D67C51-586C-440A-97C4-CD02690A5C5C}" destId="{56B613CD-B60F-4543-8608-ED455EC917AB}" srcOrd="11" destOrd="0" parTransId="{560BEA1A-A681-4A53-BB6D-0DA9F31D5454}" sibTransId="{23486D6E-5039-494A-B16C-A7976F8FF7AB}"/>
    <dgm:cxn modelId="{F116AE43-E65C-4B1F-8739-B912F4291BA6}" srcId="{D3D67C51-586C-440A-97C4-CD02690A5C5C}" destId="{5594F199-2385-46E7-A903-48250634676F}" srcOrd="10" destOrd="0" parTransId="{3453D63A-47B6-4A7C-9C92-4D808CADE525}" sibTransId="{B550564C-FF7C-4A15-986C-34C57F879948}"/>
    <dgm:cxn modelId="{66355E97-6F62-4AC2-A195-D2B3527E42E4}" type="presOf" srcId="{68E9D4BE-CD40-472B-8A33-353CE1F348DE}" destId="{4BEF0D6C-99F0-45BB-AB54-B257BFCCE712}" srcOrd="0" destOrd="0" presId="urn:microsoft.com/office/officeart/2008/layout/LinedList"/>
    <dgm:cxn modelId="{09F2A450-D409-4D2A-B390-634D460E4920}" type="presOf" srcId="{9CEE1D44-1EEB-4F65-A39D-46FE839068EB}" destId="{25E2091E-DA44-4767-ACC7-9780070CB92B}" srcOrd="0" destOrd="0" presId="urn:microsoft.com/office/officeart/2008/layout/LinedList"/>
    <dgm:cxn modelId="{93C34B8D-766B-4817-9C26-25C0BA3F4571}" srcId="{D3D67C51-586C-440A-97C4-CD02690A5C5C}" destId="{80B81C19-61A6-4DF7-B16C-D00DD81FBD6B}" srcOrd="6" destOrd="0" parTransId="{3E190A1F-C49D-41DA-82E5-49FE45F96706}" sibTransId="{23E1A90D-8843-4CBE-8B5C-964827190A00}"/>
    <dgm:cxn modelId="{4118E58B-CD67-405A-9B9C-4F8C547822C9}" srcId="{D3D67C51-586C-440A-97C4-CD02690A5C5C}" destId="{335F919A-A828-4150-A469-8B0F47B8E808}" srcOrd="4" destOrd="0" parTransId="{08D4D076-B96C-4826-A6E6-450DAD4CE10D}" sibTransId="{8B221ADD-5BDB-4DB1-AE98-927F2B74BAFC}"/>
    <dgm:cxn modelId="{140FAE5C-AB0A-4B66-BE02-DFA6ABAFA14C}" type="presOf" srcId="{5865ED12-E9DD-48A5-8DDB-AFCB375FA32D}" destId="{DE01D32F-EA52-4DF7-8A02-FD9319C709C7}" srcOrd="0" destOrd="0" presId="urn:microsoft.com/office/officeart/2008/layout/LinedList"/>
    <dgm:cxn modelId="{2645E8AC-3C18-437E-829B-D43F397CDC14}" srcId="{D3D67C51-586C-440A-97C4-CD02690A5C5C}" destId="{69850D27-020E-495E-B8B8-AF8CCF8C93D2}" srcOrd="2" destOrd="0" parTransId="{6C67AF60-F925-4A2F-B35C-C9B4954DAFD4}" sibTransId="{E1B377B5-16BC-46FB-89C6-9B8EAF55F73E}"/>
    <dgm:cxn modelId="{4F8EF122-AF62-489D-8097-8274F959F5E3}" type="presOf" srcId="{D3D67C51-586C-440A-97C4-CD02690A5C5C}" destId="{568964A0-1D46-498D-8139-ED2B9D9CA43A}" srcOrd="0" destOrd="0" presId="urn:microsoft.com/office/officeart/2008/layout/LinedList"/>
    <dgm:cxn modelId="{87FD80C4-32EA-42A3-B15E-2565439D1568}" srcId="{D3D67C51-586C-440A-97C4-CD02690A5C5C}" destId="{7408BC5D-02B5-475F-8724-6FC07142EDED}" srcOrd="1" destOrd="0" parTransId="{6FF790E6-9B03-4D0B-8626-03E4FCC1D1D9}" sibTransId="{19C7326A-28AD-4DB2-B9A7-3609312CC630}"/>
    <dgm:cxn modelId="{988D1677-9FB3-4866-9EC0-2AE0366FB9BC}" srcId="{D3D67C51-586C-440A-97C4-CD02690A5C5C}" destId="{9CEE1D44-1EEB-4F65-A39D-46FE839068EB}" srcOrd="0" destOrd="0" parTransId="{8DEE947B-DFE8-4F3D-B035-8B28F47A9D6A}" sibTransId="{0B72B81B-0304-41D1-9027-3CCEBEDBF8E1}"/>
    <dgm:cxn modelId="{4244A0AB-F2B5-4B95-A5EF-B9F88060108E}" type="presOf" srcId="{83EF1534-CE75-4559-8022-E65F8371417B}" destId="{D8ADDF90-205A-4DB3-B527-DBCB90481EA8}" srcOrd="0" destOrd="0" presId="urn:microsoft.com/office/officeart/2008/layout/LinedList"/>
    <dgm:cxn modelId="{E06620AA-2C71-43DC-88A1-07D2B14C8C1A}" srcId="{D3D67C51-586C-440A-97C4-CD02690A5C5C}" destId="{5865ED12-E9DD-48A5-8DDB-AFCB375FA32D}" srcOrd="3" destOrd="0" parTransId="{B4A41331-ADB8-4945-A5D9-CA52D239B1EB}" sibTransId="{67B704DD-6356-4522-A359-A24638F16E0F}"/>
    <dgm:cxn modelId="{62C7C0CF-A13D-4616-B768-3CBB8CE636B3}" type="presOf" srcId="{DF607432-2493-4019-8380-878EB7FE5FF7}" destId="{57C442CA-AEBB-4719-9CF9-CE54D429E75E}" srcOrd="0" destOrd="0" presId="urn:microsoft.com/office/officeart/2008/layout/LinedList"/>
    <dgm:cxn modelId="{ECB31DDE-E7D5-49D6-8BBE-13135ADD3135}" type="presOf" srcId="{7408BC5D-02B5-475F-8724-6FC07142EDED}" destId="{F3D71116-15D0-4B2D-9075-A3DC48F31619}" srcOrd="0" destOrd="0" presId="urn:microsoft.com/office/officeart/2008/layout/LinedList"/>
    <dgm:cxn modelId="{E2ECED12-DF12-4C63-B49A-23B30F6CF904}" srcId="{D3D67C51-586C-440A-97C4-CD02690A5C5C}" destId="{83EF1534-CE75-4559-8022-E65F8371417B}" srcOrd="9" destOrd="0" parTransId="{5FF636BC-9EAF-45CD-9CC1-D4314CDB1791}" sibTransId="{E9BC09AF-7DAE-4E39-8E70-AAD101478900}"/>
    <dgm:cxn modelId="{BE58671F-F26B-449D-AA5D-5A037E1707EE}" srcId="{D3D67C51-586C-440A-97C4-CD02690A5C5C}" destId="{DF607432-2493-4019-8380-878EB7FE5FF7}" srcOrd="7" destOrd="0" parTransId="{6647CA67-0F82-4580-8000-F96B56C9D4AB}" sibTransId="{B240A6E6-3BBA-473A-8690-1BA497660B16}"/>
    <dgm:cxn modelId="{F2404324-94D1-4795-996C-42A4E1E1A99A}" srcId="{D3D67C51-586C-440A-97C4-CD02690A5C5C}" destId="{68E9D4BE-CD40-472B-8A33-353CE1F348DE}" srcOrd="8" destOrd="0" parTransId="{28AD8730-9B5E-4AB1-871F-541388716B63}" sibTransId="{34C2B689-EAEC-4FB2-91E7-A5D439AAF109}"/>
    <dgm:cxn modelId="{B9F7AE67-5D19-4C6A-9AB0-AB719321D2BF}" srcId="{D3D67C51-586C-440A-97C4-CD02690A5C5C}" destId="{0192E5DE-90A2-4C81-8264-F294E5C6BD77}" srcOrd="5" destOrd="0" parTransId="{CB61CD04-CDC5-4AA6-BA06-DF25F0960403}" sibTransId="{A5BF4E43-C972-4221-872E-4FF3B2C29972}"/>
    <dgm:cxn modelId="{1A4FC572-B977-4E6D-8A3D-C6473DD22C7F}" type="presOf" srcId="{69850D27-020E-495E-B8B8-AF8CCF8C93D2}" destId="{10CF2208-8107-4D42-9A96-6F4C9F9F73B8}" srcOrd="0" destOrd="0" presId="urn:microsoft.com/office/officeart/2008/layout/LinedList"/>
    <dgm:cxn modelId="{304E07C9-8D74-445A-9A37-FA422C018AAF}" type="presOf" srcId="{56B613CD-B60F-4543-8608-ED455EC917AB}" destId="{223145CF-8733-4899-8D36-7679B7079AD1}" srcOrd="0" destOrd="0" presId="urn:microsoft.com/office/officeart/2008/layout/LinedList"/>
    <dgm:cxn modelId="{703C152D-4DF5-4B5F-AF41-8CA54B68235C}" type="presOf" srcId="{5594F199-2385-46E7-A903-48250634676F}" destId="{8B1BFDC6-112C-477A-B813-621666C4434C}" srcOrd="0" destOrd="0" presId="urn:microsoft.com/office/officeart/2008/layout/LinedList"/>
    <dgm:cxn modelId="{3E0AD625-FA7B-4743-A288-37F3B7F8E94A}" type="presOf" srcId="{335F919A-A828-4150-A469-8B0F47B8E808}" destId="{230B60D0-C6A4-40FB-9668-DA86CC48D5FC}" srcOrd="0" destOrd="0" presId="urn:microsoft.com/office/officeart/2008/layout/LinedList"/>
    <dgm:cxn modelId="{0E363E91-FFE8-41EA-88F8-04F4F360C78C}" type="presOf" srcId="{0192E5DE-90A2-4C81-8264-F294E5C6BD77}" destId="{A386AAA9-4E94-4414-B751-1DB8D780ED2D}" srcOrd="0" destOrd="0" presId="urn:microsoft.com/office/officeart/2008/layout/LinedList"/>
    <dgm:cxn modelId="{677AE393-4672-40CD-8047-4677ABCD0862}" type="presParOf" srcId="{568964A0-1D46-498D-8139-ED2B9D9CA43A}" destId="{BDD5C944-BE29-4912-81F3-2E8E9BD5E150}" srcOrd="0" destOrd="0" presId="urn:microsoft.com/office/officeart/2008/layout/LinedList"/>
    <dgm:cxn modelId="{22F79C93-AE0B-4D70-BC90-80D3E55A1731}" type="presParOf" srcId="{568964A0-1D46-498D-8139-ED2B9D9CA43A}" destId="{377956D6-EF6A-4173-AB36-EAB7D2441083}" srcOrd="1" destOrd="0" presId="urn:microsoft.com/office/officeart/2008/layout/LinedList"/>
    <dgm:cxn modelId="{E63264FE-0006-4384-8418-D48C26FFA258}" type="presParOf" srcId="{377956D6-EF6A-4173-AB36-EAB7D2441083}" destId="{25E2091E-DA44-4767-ACC7-9780070CB92B}" srcOrd="0" destOrd="0" presId="urn:microsoft.com/office/officeart/2008/layout/LinedList"/>
    <dgm:cxn modelId="{6D03271E-C9C5-4231-A17B-64030B302907}" type="presParOf" srcId="{377956D6-EF6A-4173-AB36-EAB7D2441083}" destId="{4F45CC78-8AC1-45BF-AA5D-31B81C1C99FC}" srcOrd="1" destOrd="0" presId="urn:microsoft.com/office/officeart/2008/layout/LinedList"/>
    <dgm:cxn modelId="{7A6E140B-1CF6-463D-9BA7-250CF07FFA3F}" type="presParOf" srcId="{568964A0-1D46-498D-8139-ED2B9D9CA43A}" destId="{A5373285-52D0-416E-A892-883D01C9F7E8}" srcOrd="2" destOrd="0" presId="urn:microsoft.com/office/officeart/2008/layout/LinedList"/>
    <dgm:cxn modelId="{88D8396D-BDDB-4306-B6D9-902EF892B8C2}" type="presParOf" srcId="{568964A0-1D46-498D-8139-ED2B9D9CA43A}" destId="{F5B92F36-FE08-475A-9261-83F5448B788D}" srcOrd="3" destOrd="0" presId="urn:microsoft.com/office/officeart/2008/layout/LinedList"/>
    <dgm:cxn modelId="{8179D6F9-6EB5-45E0-90B0-308B7FAAF33D}" type="presParOf" srcId="{F5B92F36-FE08-475A-9261-83F5448B788D}" destId="{F3D71116-15D0-4B2D-9075-A3DC48F31619}" srcOrd="0" destOrd="0" presId="urn:microsoft.com/office/officeart/2008/layout/LinedList"/>
    <dgm:cxn modelId="{4CA3D6A9-70C3-4A7B-807D-194B70B1ECFA}" type="presParOf" srcId="{F5B92F36-FE08-475A-9261-83F5448B788D}" destId="{2D5EB0B7-43B8-48C1-87CC-85C0A5ABBC82}" srcOrd="1" destOrd="0" presId="urn:microsoft.com/office/officeart/2008/layout/LinedList"/>
    <dgm:cxn modelId="{C8260BCF-9018-4F27-8B8B-C8E6F037FA87}" type="presParOf" srcId="{568964A0-1D46-498D-8139-ED2B9D9CA43A}" destId="{3285D4A3-3C13-4C6E-BF82-3E7AE2C7CBB3}" srcOrd="4" destOrd="0" presId="urn:microsoft.com/office/officeart/2008/layout/LinedList"/>
    <dgm:cxn modelId="{D235CA80-A3CA-409C-8884-1F06BB4F8487}" type="presParOf" srcId="{568964A0-1D46-498D-8139-ED2B9D9CA43A}" destId="{D1FBE53B-4C7D-44C6-9823-6FAFCB2C064C}" srcOrd="5" destOrd="0" presId="urn:microsoft.com/office/officeart/2008/layout/LinedList"/>
    <dgm:cxn modelId="{AD8AA429-51E5-4572-8D31-008EF0C67861}" type="presParOf" srcId="{D1FBE53B-4C7D-44C6-9823-6FAFCB2C064C}" destId="{10CF2208-8107-4D42-9A96-6F4C9F9F73B8}" srcOrd="0" destOrd="0" presId="urn:microsoft.com/office/officeart/2008/layout/LinedList"/>
    <dgm:cxn modelId="{B3FF8108-DBB0-416D-967F-3EE4EACF8291}" type="presParOf" srcId="{D1FBE53B-4C7D-44C6-9823-6FAFCB2C064C}" destId="{EFAF4DD3-6648-48EB-A22A-2828733ED42B}" srcOrd="1" destOrd="0" presId="urn:microsoft.com/office/officeart/2008/layout/LinedList"/>
    <dgm:cxn modelId="{17614FA2-F9E7-4D90-B679-FA0D70EED882}" type="presParOf" srcId="{568964A0-1D46-498D-8139-ED2B9D9CA43A}" destId="{8D8398F5-70B4-42C6-859B-CFD70AF786B7}" srcOrd="6" destOrd="0" presId="urn:microsoft.com/office/officeart/2008/layout/LinedList"/>
    <dgm:cxn modelId="{4EAAD931-D79A-4DF1-8296-0349B01762AF}" type="presParOf" srcId="{568964A0-1D46-498D-8139-ED2B9D9CA43A}" destId="{18B3A170-F289-4242-89B7-D6683CC908D7}" srcOrd="7" destOrd="0" presId="urn:microsoft.com/office/officeart/2008/layout/LinedList"/>
    <dgm:cxn modelId="{78DB0ACD-4860-4FAE-9333-D65E2DAAB036}" type="presParOf" srcId="{18B3A170-F289-4242-89B7-D6683CC908D7}" destId="{DE01D32F-EA52-4DF7-8A02-FD9319C709C7}" srcOrd="0" destOrd="0" presId="urn:microsoft.com/office/officeart/2008/layout/LinedList"/>
    <dgm:cxn modelId="{05236D47-BA80-4C3D-8D68-1C54147B902F}" type="presParOf" srcId="{18B3A170-F289-4242-89B7-D6683CC908D7}" destId="{EDE64533-F6B1-4564-965E-4931B96A583E}" srcOrd="1" destOrd="0" presId="urn:microsoft.com/office/officeart/2008/layout/LinedList"/>
    <dgm:cxn modelId="{70794963-DB0F-464C-85B9-A2D0D38AEA81}" type="presParOf" srcId="{568964A0-1D46-498D-8139-ED2B9D9CA43A}" destId="{5A525CF2-8DC3-40AB-B89F-6416528E8DF5}" srcOrd="8" destOrd="0" presId="urn:microsoft.com/office/officeart/2008/layout/LinedList"/>
    <dgm:cxn modelId="{39B18F4B-89A0-434E-AE54-F689F23DF9E2}" type="presParOf" srcId="{568964A0-1D46-498D-8139-ED2B9D9CA43A}" destId="{C7C72B74-E716-45A4-8524-6AD1050AC0E2}" srcOrd="9" destOrd="0" presId="urn:microsoft.com/office/officeart/2008/layout/LinedList"/>
    <dgm:cxn modelId="{D95A73D9-B289-46F7-AABE-EC5DFCD5AFFE}" type="presParOf" srcId="{C7C72B74-E716-45A4-8524-6AD1050AC0E2}" destId="{230B60D0-C6A4-40FB-9668-DA86CC48D5FC}" srcOrd="0" destOrd="0" presId="urn:microsoft.com/office/officeart/2008/layout/LinedList"/>
    <dgm:cxn modelId="{198B00EF-DA56-42A5-90DE-068FB15472E5}" type="presParOf" srcId="{C7C72B74-E716-45A4-8524-6AD1050AC0E2}" destId="{7951B586-FE14-4262-87DF-35242AA307F7}" srcOrd="1" destOrd="0" presId="urn:microsoft.com/office/officeart/2008/layout/LinedList"/>
    <dgm:cxn modelId="{43A3FACC-90C9-4A81-9ADF-1D4812C1581D}" type="presParOf" srcId="{568964A0-1D46-498D-8139-ED2B9D9CA43A}" destId="{4D992764-A04E-4152-A542-84B20F5BEE91}" srcOrd="10" destOrd="0" presId="urn:microsoft.com/office/officeart/2008/layout/LinedList"/>
    <dgm:cxn modelId="{D74CB2EF-3936-488E-A22E-654A735D051C}" type="presParOf" srcId="{568964A0-1D46-498D-8139-ED2B9D9CA43A}" destId="{92BD4132-3231-49DB-934E-3631DD0607DE}" srcOrd="11" destOrd="0" presId="urn:microsoft.com/office/officeart/2008/layout/LinedList"/>
    <dgm:cxn modelId="{7D092276-8FC1-451F-A595-DCA6538EB2C4}" type="presParOf" srcId="{92BD4132-3231-49DB-934E-3631DD0607DE}" destId="{A386AAA9-4E94-4414-B751-1DB8D780ED2D}" srcOrd="0" destOrd="0" presId="urn:microsoft.com/office/officeart/2008/layout/LinedList"/>
    <dgm:cxn modelId="{5B7B52D0-F193-48E1-B2EE-6A8649D5CD69}" type="presParOf" srcId="{92BD4132-3231-49DB-934E-3631DD0607DE}" destId="{6C8EBEEB-EAA0-4C35-9BC1-A02A230DFC2C}" srcOrd="1" destOrd="0" presId="urn:microsoft.com/office/officeart/2008/layout/LinedList"/>
    <dgm:cxn modelId="{B2D71A85-AA80-4071-ACB9-B1951916558A}" type="presParOf" srcId="{568964A0-1D46-498D-8139-ED2B9D9CA43A}" destId="{C5AD9B23-2959-4E8E-A23D-9E2751EB45B4}" srcOrd="12" destOrd="0" presId="urn:microsoft.com/office/officeart/2008/layout/LinedList"/>
    <dgm:cxn modelId="{42B0C6CE-0BC6-49F0-A1FB-B148880CFEC7}" type="presParOf" srcId="{568964A0-1D46-498D-8139-ED2B9D9CA43A}" destId="{814F6728-4924-4C62-A0F4-24A904EB9DB9}" srcOrd="13" destOrd="0" presId="urn:microsoft.com/office/officeart/2008/layout/LinedList"/>
    <dgm:cxn modelId="{C6E42970-4B5B-404B-B30D-C72A0028C783}" type="presParOf" srcId="{814F6728-4924-4C62-A0F4-24A904EB9DB9}" destId="{5D90294C-92C8-414F-9B3A-EB54FC0A4C4B}" srcOrd="0" destOrd="0" presId="urn:microsoft.com/office/officeart/2008/layout/LinedList"/>
    <dgm:cxn modelId="{1A34EF52-D628-4B8C-A2D0-FA372EAAA26B}" type="presParOf" srcId="{814F6728-4924-4C62-A0F4-24A904EB9DB9}" destId="{F21617F3-671F-4B1E-BEE2-2ACE38BEF274}" srcOrd="1" destOrd="0" presId="urn:microsoft.com/office/officeart/2008/layout/LinedList"/>
    <dgm:cxn modelId="{7FFF90FB-1DDB-476D-8C92-EA2EA93228A4}" type="presParOf" srcId="{568964A0-1D46-498D-8139-ED2B9D9CA43A}" destId="{B865CF52-D51E-4041-8249-7110AF326950}" srcOrd="14" destOrd="0" presId="urn:microsoft.com/office/officeart/2008/layout/LinedList"/>
    <dgm:cxn modelId="{4D327B7F-2D41-4336-A788-E35DB1BEB2D2}" type="presParOf" srcId="{568964A0-1D46-498D-8139-ED2B9D9CA43A}" destId="{5FB0FF02-C0EF-44D4-89DF-A08C2BACCEB9}" srcOrd="15" destOrd="0" presId="urn:microsoft.com/office/officeart/2008/layout/LinedList"/>
    <dgm:cxn modelId="{D47600FA-46B4-4D7C-9C9D-4BFB1E5F913A}" type="presParOf" srcId="{5FB0FF02-C0EF-44D4-89DF-A08C2BACCEB9}" destId="{57C442CA-AEBB-4719-9CF9-CE54D429E75E}" srcOrd="0" destOrd="0" presId="urn:microsoft.com/office/officeart/2008/layout/LinedList"/>
    <dgm:cxn modelId="{94F835EF-AC3F-4888-98AD-6E3FAADD5558}" type="presParOf" srcId="{5FB0FF02-C0EF-44D4-89DF-A08C2BACCEB9}" destId="{1562F3C7-6F44-488F-841D-1DBFFF0C8D2B}" srcOrd="1" destOrd="0" presId="urn:microsoft.com/office/officeart/2008/layout/LinedList"/>
    <dgm:cxn modelId="{9FAD86F0-E50E-4F84-A14C-DB714D8B02DC}" type="presParOf" srcId="{568964A0-1D46-498D-8139-ED2B9D9CA43A}" destId="{32005316-9742-4AA8-A4BD-8AF4B8A80F7F}" srcOrd="16" destOrd="0" presId="urn:microsoft.com/office/officeart/2008/layout/LinedList"/>
    <dgm:cxn modelId="{CF275FCB-D7C2-436D-8815-F19782B15EA9}" type="presParOf" srcId="{568964A0-1D46-498D-8139-ED2B9D9CA43A}" destId="{583AF342-3280-483F-9E2E-0A7E2CDA029F}" srcOrd="17" destOrd="0" presId="urn:microsoft.com/office/officeart/2008/layout/LinedList"/>
    <dgm:cxn modelId="{F2277C24-F55C-4F67-9F9D-D3BBFE28A9CB}" type="presParOf" srcId="{583AF342-3280-483F-9E2E-0A7E2CDA029F}" destId="{4BEF0D6C-99F0-45BB-AB54-B257BFCCE712}" srcOrd="0" destOrd="0" presId="urn:microsoft.com/office/officeart/2008/layout/LinedList"/>
    <dgm:cxn modelId="{8F80531E-0E13-46E4-8DBE-1D02A0E239CA}" type="presParOf" srcId="{583AF342-3280-483F-9E2E-0A7E2CDA029F}" destId="{7C4FAEAE-6849-4611-8FB1-03169B893375}" srcOrd="1" destOrd="0" presId="urn:microsoft.com/office/officeart/2008/layout/LinedList"/>
    <dgm:cxn modelId="{33272FC5-3375-422F-9672-E6C88FF7E95D}" type="presParOf" srcId="{568964A0-1D46-498D-8139-ED2B9D9CA43A}" destId="{0F52A486-5907-46F7-A4E1-E9B6E4854468}" srcOrd="18" destOrd="0" presId="urn:microsoft.com/office/officeart/2008/layout/LinedList"/>
    <dgm:cxn modelId="{7646414C-24DA-454D-AC39-063637B55C9B}" type="presParOf" srcId="{568964A0-1D46-498D-8139-ED2B9D9CA43A}" destId="{7B7A2E00-FFC0-4DCC-82D1-0D99BFB612F6}" srcOrd="19" destOrd="0" presId="urn:microsoft.com/office/officeart/2008/layout/LinedList"/>
    <dgm:cxn modelId="{25CA0B7D-A1A3-4EBB-92F5-D781295E3A6F}" type="presParOf" srcId="{7B7A2E00-FFC0-4DCC-82D1-0D99BFB612F6}" destId="{D8ADDF90-205A-4DB3-B527-DBCB90481EA8}" srcOrd="0" destOrd="0" presId="urn:microsoft.com/office/officeart/2008/layout/LinedList"/>
    <dgm:cxn modelId="{614787FE-55E7-43F3-95F8-2F71EA84AEEC}" type="presParOf" srcId="{7B7A2E00-FFC0-4DCC-82D1-0D99BFB612F6}" destId="{FF39CA0E-F9EF-4F0E-9C7B-36AB7F2A5700}" srcOrd="1" destOrd="0" presId="urn:microsoft.com/office/officeart/2008/layout/LinedList"/>
    <dgm:cxn modelId="{C6FDD3E6-5439-4A05-8F2B-F1296C65C4F9}" type="presParOf" srcId="{568964A0-1D46-498D-8139-ED2B9D9CA43A}" destId="{51D695C2-04B8-4726-B993-8FA3677D319D}" srcOrd="20" destOrd="0" presId="urn:microsoft.com/office/officeart/2008/layout/LinedList"/>
    <dgm:cxn modelId="{444C82C0-C2CA-4BE1-BC1F-EFACE8441CEC}" type="presParOf" srcId="{568964A0-1D46-498D-8139-ED2B9D9CA43A}" destId="{1BC24314-7290-411C-BDC8-72B32D2BC7EE}" srcOrd="21" destOrd="0" presId="urn:microsoft.com/office/officeart/2008/layout/LinedList"/>
    <dgm:cxn modelId="{45845496-5ADB-40F2-AE3D-17F11258317E}" type="presParOf" srcId="{1BC24314-7290-411C-BDC8-72B32D2BC7EE}" destId="{8B1BFDC6-112C-477A-B813-621666C4434C}" srcOrd="0" destOrd="0" presId="urn:microsoft.com/office/officeart/2008/layout/LinedList"/>
    <dgm:cxn modelId="{ABD72B29-1AB9-45A7-A97E-2D71462BF040}" type="presParOf" srcId="{1BC24314-7290-411C-BDC8-72B32D2BC7EE}" destId="{C6E4618B-F9C3-407C-A542-53A68CA9D596}" srcOrd="1" destOrd="0" presId="urn:microsoft.com/office/officeart/2008/layout/LinedList"/>
    <dgm:cxn modelId="{2E46C7D7-D946-46F0-B767-5B8B476A1ADD}" type="presParOf" srcId="{568964A0-1D46-498D-8139-ED2B9D9CA43A}" destId="{6D9BF359-CA29-4A11-A830-102D3E610FFD}" srcOrd="22" destOrd="0" presId="urn:microsoft.com/office/officeart/2008/layout/LinedList"/>
    <dgm:cxn modelId="{9880E8C8-1717-4D95-80AC-B1B12F0F4E32}" type="presParOf" srcId="{568964A0-1D46-498D-8139-ED2B9D9CA43A}" destId="{CD54A95E-9E28-4CD6-AEE0-2118A77F7E8E}" srcOrd="23" destOrd="0" presId="urn:microsoft.com/office/officeart/2008/layout/LinedList"/>
    <dgm:cxn modelId="{AC85E4DE-3FD7-4695-ABAE-110E33E96B36}" type="presParOf" srcId="{CD54A95E-9E28-4CD6-AEE0-2118A77F7E8E}" destId="{223145CF-8733-4899-8D36-7679B7079AD1}" srcOrd="0" destOrd="0" presId="urn:microsoft.com/office/officeart/2008/layout/LinedList"/>
    <dgm:cxn modelId="{5BC7BE7D-076F-403F-87F8-C3CFB843B287}" type="presParOf" srcId="{CD54A95E-9E28-4CD6-AEE0-2118A77F7E8E}" destId="{2EB87739-E76B-4F50-96C3-9E96CAC5EEE5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DD5C944-BE29-4912-81F3-2E8E9BD5E150}">
      <dsp:nvSpPr>
        <dsp:cNvPr id="0" name=""/>
        <dsp:cNvSpPr/>
      </dsp:nvSpPr>
      <dsp:spPr>
        <a:xfrm>
          <a:off x="0" y="2123"/>
          <a:ext cx="10052793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5E2091E-DA44-4767-ACC7-9780070CB92B}">
      <dsp:nvSpPr>
        <dsp:cNvPr id="0" name=""/>
        <dsp:cNvSpPr/>
      </dsp:nvSpPr>
      <dsp:spPr>
        <a:xfrm>
          <a:off x="0" y="2123"/>
          <a:ext cx="10052793" cy="3621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>
              <a:hlinkClick xmlns:r="http://schemas.openxmlformats.org/officeDocument/2006/relationships" r:id="rId1"/>
            </a:rPr>
            <a:t> </a:t>
          </a:r>
          <a:r>
            <a:rPr lang="en-US" sz="1600" kern="1200" dirty="0" err="1" smtClean="0">
              <a:hlinkClick xmlns:r="http://schemas.openxmlformats.org/officeDocument/2006/relationships" r:id="rId1"/>
            </a:rPr>
            <a:t>Harshjot</a:t>
          </a:r>
          <a:r>
            <a:rPr lang="en-US" sz="1600" kern="1200" dirty="0" smtClean="0">
              <a:hlinkClick xmlns:r="http://schemas.openxmlformats.org/officeDocument/2006/relationships" r:id="rId1"/>
            </a:rPr>
            <a:t> </a:t>
          </a:r>
          <a:r>
            <a:rPr lang="en-US" sz="1600" kern="1200" dirty="0" err="1" smtClean="0">
              <a:hlinkClick xmlns:r="http://schemas.openxmlformats.org/officeDocument/2006/relationships" r:id="rId1"/>
            </a:rPr>
            <a:t>kaur</a:t>
          </a:r>
          <a:r>
            <a:rPr lang="en-US" sz="1600" kern="1200" dirty="0" smtClean="0">
              <a:hlinkClick xmlns:r="http://schemas.openxmlformats.org/officeDocument/2006/relationships" r:id="rId1"/>
            </a:rPr>
            <a:t>  :      https</a:t>
          </a:r>
          <a:r>
            <a:rPr lang="en-US" sz="1600" kern="1200" dirty="0">
              <a:hlinkClick xmlns:r="http://schemas.openxmlformats.org/officeDocument/2006/relationships" r:id="rId1"/>
            </a:rPr>
            <a:t>://github.com/harshjot231006</a:t>
          </a:r>
          <a:endParaRPr lang="en-US" sz="1600" kern="1200" dirty="0"/>
        </a:p>
      </dsp:txBody>
      <dsp:txXfrm>
        <a:off x="0" y="2123"/>
        <a:ext cx="10052793" cy="362118"/>
      </dsp:txXfrm>
    </dsp:sp>
    <dsp:sp modelId="{A5373285-52D0-416E-A892-883D01C9F7E8}">
      <dsp:nvSpPr>
        <dsp:cNvPr id="0" name=""/>
        <dsp:cNvSpPr/>
      </dsp:nvSpPr>
      <dsp:spPr>
        <a:xfrm>
          <a:off x="0" y="364241"/>
          <a:ext cx="10052793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3D71116-15D0-4B2D-9075-A3DC48F31619}">
      <dsp:nvSpPr>
        <dsp:cNvPr id="0" name=""/>
        <dsp:cNvSpPr/>
      </dsp:nvSpPr>
      <dsp:spPr>
        <a:xfrm>
          <a:off x="0" y="364241"/>
          <a:ext cx="10052793" cy="3621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err="1" smtClean="0">
              <a:hlinkClick xmlns:r="http://schemas.openxmlformats.org/officeDocument/2006/relationships" r:id="rId2"/>
            </a:rPr>
            <a:t>Harmeet</a:t>
          </a:r>
          <a:r>
            <a:rPr lang="en-US" sz="1600" kern="1200" dirty="0" smtClean="0">
              <a:hlinkClick xmlns:r="http://schemas.openxmlformats.org/officeDocument/2006/relationships" r:id="rId2"/>
            </a:rPr>
            <a:t> </a:t>
          </a:r>
          <a:r>
            <a:rPr lang="en-US" sz="1600" kern="1200" dirty="0" err="1" smtClean="0">
              <a:hlinkClick xmlns:r="http://schemas.openxmlformats.org/officeDocument/2006/relationships" r:id="rId2"/>
            </a:rPr>
            <a:t>singh</a:t>
          </a:r>
          <a:r>
            <a:rPr lang="en-US" sz="1600" kern="1200" dirty="0" smtClean="0">
              <a:hlinkClick xmlns:r="http://schemas.openxmlformats.org/officeDocument/2006/relationships" r:id="rId2"/>
            </a:rPr>
            <a:t>  :     http</a:t>
          </a:r>
          <a:r>
            <a:rPr lang="en-US" sz="1600" kern="1200" dirty="0">
              <a:hlinkClick xmlns:r="http://schemas.openxmlformats.org/officeDocument/2006/relationships" r:id="rId2"/>
            </a:rPr>
            <a:t>://github.com/Harmeet732008</a:t>
          </a:r>
          <a:endParaRPr lang="en-US" sz="1600" kern="1200" dirty="0"/>
        </a:p>
      </dsp:txBody>
      <dsp:txXfrm>
        <a:off x="0" y="364241"/>
        <a:ext cx="10052793" cy="362118"/>
      </dsp:txXfrm>
    </dsp:sp>
    <dsp:sp modelId="{3285D4A3-3C13-4C6E-BF82-3E7AE2C7CBB3}">
      <dsp:nvSpPr>
        <dsp:cNvPr id="0" name=""/>
        <dsp:cNvSpPr/>
      </dsp:nvSpPr>
      <dsp:spPr>
        <a:xfrm>
          <a:off x="0" y="726360"/>
          <a:ext cx="10052793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0CF2208-8107-4D42-9A96-6F4C9F9F73B8}">
      <dsp:nvSpPr>
        <dsp:cNvPr id="0" name=""/>
        <dsp:cNvSpPr/>
      </dsp:nvSpPr>
      <dsp:spPr>
        <a:xfrm>
          <a:off x="0" y="726360"/>
          <a:ext cx="10052793" cy="3621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err="1" smtClean="0">
              <a:hlinkClick xmlns:r="http://schemas.openxmlformats.org/officeDocument/2006/relationships" r:id="rId3"/>
            </a:rPr>
            <a:t>Ishika</a:t>
          </a:r>
          <a:r>
            <a:rPr lang="en-US" sz="1600" kern="1200" dirty="0" smtClean="0">
              <a:hlinkClick xmlns:r="http://schemas.openxmlformats.org/officeDocument/2006/relationships" r:id="rId3"/>
            </a:rPr>
            <a:t> </a:t>
          </a:r>
          <a:r>
            <a:rPr lang="en-US" sz="1600" kern="1200" dirty="0" err="1" smtClean="0">
              <a:hlinkClick xmlns:r="http://schemas.openxmlformats.org/officeDocument/2006/relationships" r:id="rId3"/>
            </a:rPr>
            <a:t>kumar</a:t>
          </a:r>
          <a:r>
            <a:rPr lang="en-US" sz="1600" kern="1200" dirty="0" smtClean="0">
              <a:hlinkClick xmlns:r="http://schemas.openxmlformats.org/officeDocument/2006/relationships" r:id="rId3"/>
            </a:rPr>
            <a:t>    :     https</a:t>
          </a:r>
          <a:r>
            <a:rPr lang="en-US" sz="1600" kern="1200" dirty="0">
              <a:hlinkClick xmlns:r="http://schemas.openxmlformats.org/officeDocument/2006/relationships" r:id="rId3"/>
            </a:rPr>
            <a:t>://github.com/ishikakumar227-sys</a:t>
          </a:r>
          <a:endParaRPr lang="en-US" sz="1600" kern="1200" dirty="0"/>
        </a:p>
      </dsp:txBody>
      <dsp:txXfrm>
        <a:off x="0" y="726360"/>
        <a:ext cx="10052793" cy="362118"/>
      </dsp:txXfrm>
    </dsp:sp>
    <dsp:sp modelId="{8D8398F5-70B4-42C6-859B-CFD70AF786B7}">
      <dsp:nvSpPr>
        <dsp:cNvPr id="0" name=""/>
        <dsp:cNvSpPr/>
      </dsp:nvSpPr>
      <dsp:spPr>
        <a:xfrm>
          <a:off x="0" y="1088478"/>
          <a:ext cx="10052793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01D32F-EA52-4DF7-8A02-FD9319C709C7}">
      <dsp:nvSpPr>
        <dsp:cNvPr id="0" name=""/>
        <dsp:cNvSpPr/>
      </dsp:nvSpPr>
      <dsp:spPr>
        <a:xfrm>
          <a:off x="0" y="1088478"/>
          <a:ext cx="10052793" cy="3621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err="1" smtClean="0">
              <a:hlinkClick xmlns:r="http://schemas.openxmlformats.org/officeDocument/2006/relationships" r:id="rId4"/>
            </a:rPr>
            <a:t>Ishvir</a:t>
          </a:r>
          <a:r>
            <a:rPr lang="en-US" sz="1600" kern="1200" dirty="0" smtClean="0">
              <a:hlinkClick xmlns:r="http://schemas.openxmlformats.org/officeDocument/2006/relationships" r:id="rId4"/>
            </a:rPr>
            <a:t> Singh      : https</a:t>
          </a:r>
          <a:r>
            <a:rPr lang="en-US" sz="1600" kern="1200" dirty="0">
              <a:hlinkClick xmlns:r="http://schemas.openxmlformats.org/officeDocument/2006/relationships" r:id="rId4"/>
            </a:rPr>
            <a:t>://github.com/ishvir292007</a:t>
          </a:r>
          <a:endParaRPr lang="en-US" sz="1600" kern="1200" dirty="0"/>
        </a:p>
      </dsp:txBody>
      <dsp:txXfrm>
        <a:off x="0" y="1088478"/>
        <a:ext cx="10052793" cy="362118"/>
      </dsp:txXfrm>
    </dsp:sp>
    <dsp:sp modelId="{5A525CF2-8DC3-40AB-B89F-6416528E8DF5}">
      <dsp:nvSpPr>
        <dsp:cNvPr id="0" name=""/>
        <dsp:cNvSpPr/>
      </dsp:nvSpPr>
      <dsp:spPr>
        <a:xfrm>
          <a:off x="0" y="1450596"/>
          <a:ext cx="10052793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30B60D0-C6A4-40FB-9668-DA86CC48D5FC}">
      <dsp:nvSpPr>
        <dsp:cNvPr id="0" name=""/>
        <dsp:cNvSpPr/>
      </dsp:nvSpPr>
      <dsp:spPr>
        <a:xfrm>
          <a:off x="0" y="1450596"/>
          <a:ext cx="10052793" cy="3621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err="1" smtClean="0">
              <a:hlinkClick xmlns:r="http://schemas.openxmlformats.org/officeDocument/2006/relationships" r:id="rId5"/>
            </a:rPr>
            <a:t>Gagan</a:t>
          </a:r>
          <a:r>
            <a:rPr lang="en-US" sz="1600" kern="1200" dirty="0" smtClean="0">
              <a:hlinkClick xmlns:r="http://schemas.openxmlformats.org/officeDocument/2006/relationships" r:id="rId5"/>
            </a:rPr>
            <a:t> </a:t>
          </a:r>
          <a:r>
            <a:rPr lang="en-US" sz="1600" kern="1200" dirty="0" err="1" smtClean="0">
              <a:hlinkClick xmlns:r="http://schemas.openxmlformats.org/officeDocument/2006/relationships" r:id="rId5"/>
            </a:rPr>
            <a:t>preet</a:t>
          </a:r>
          <a:r>
            <a:rPr lang="en-US" sz="1600" kern="1200" dirty="0" smtClean="0">
              <a:hlinkClick xmlns:r="http://schemas.openxmlformats.org/officeDocument/2006/relationships" r:id="rId5"/>
            </a:rPr>
            <a:t>    : https</a:t>
          </a:r>
          <a:r>
            <a:rPr lang="en-US" sz="1600" kern="1200" dirty="0">
              <a:hlinkClick xmlns:r="http://schemas.openxmlformats.org/officeDocument/2006/relationships" r:id="rId5"/>
            </a:rPr>
            <a:t>://github.com/gaganpreetkaur914-sudo</a:t>
          </a:r>
          <a:endParaRPr lang="en-US" sz="1600" kern="1200" dirty="0"/>
        </a:p>
      </dsp:txBody>
      <dsp:txXfrm>
        <a:off x="0" y="1450596"/>
        <a:ext cx="10052793" cy="362118"/>
      </dsp:txXfrm>
    </dsp:sp>
    <dsp:sp modelId="{4D992764-A04E-4152-A542-84B20F5BEE91}">
      <dsp:nvSpPr>
        <dsp:cNvPr id="0" name=""/>
        <dsp:cNvSpPr/>
      </dsp:nvSpPr>
      <dsp:spPr>
        <a:xfrm>
          <a:off x="0" y="1812714"/>
          <a:ext cx="10052793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386AAA9-4E94-4414-B751-1DB8D780ED2D}">
      <dsp:nvSpPr>
        <dsp:cNvPr id="0" name=""/>
        <dsp:cNvSpPr/>
      </dsp:nvSpPr>
      <dsp:spPr>
        <a:xfrm>
          <a:off x="0" y="1812714"/>
          <a:ext cx="10052793" cy="3621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err="1" smtClean="0">
              <a:hlinkClick xmlns:r="http://schemas.openxmlformats.org/officeDocument/2006/relationships" r:id="rId6"/>
            </a:rPr>
            <a:t>Ashwinder</a:t>
          </a:r>
          <a:r>
            <a:rPr lang="en-US" sz="1600" kern="1200" dirty="0" smtClean="0">
              <a:hlinkClick xmlns:r="http://schemas.openxmlformats.org/officeDocument/2006/relationships" r:id="rId6"/>
            </a:rPr>
            <a:t> </a:t>
          </a:r>
          <a:r>
            <a:rPr lang="en-US" sz="1600" kern="1200" dirty="0" err="1" smtClean="0">
              <a:hlinkClick xmlns:r="http://schemas.openxmlformats.org/officeDocument/2006/relationships" r:id="rId6"/>
            </a:rPr>
            <a:t>kaur</a:t>
          </a:r>
          <a:r>
            <a:rPr lang="en-US" sz="1600" kern="1200" dirty="0" smtClean="0">
              <a:hlinkClick xmlns:r="http://schemas.openxmlformats.org/officeDocument/2006/relationships" r:id="rId6"/>
            </a:rPr>
            <a:t> : https</a:t>
          </a:r>
          <a:r>
            <a:rPr lang="en-US" sz="1600" kern="1200" dirty="0">
              <a:hlinkClick xmlns:r="http://schemas.openxmlformats.org/officeDocument/2006/relationships" r:id="rId6"/>
            </a:rPr>
            <a:t>://github.com/kaurashwinder06-cell</a:t>
          </a:r>
          <a:endParaRPr lang="en-US" sz="1600" kern="1200" dirty="0"/>
        </a:p>
      </dsp:txBody>
      <dsp:txXfrm>
        <a:off x="0" y="1812714"/>
        <a:ext cx="10052793" cy="362118"/>
      </dsp:txXfrm>
    </dsp:sp>
    <dsp:sp modelId="{C5AD9B23-2959-4E8E-A23D-9E2751EB45B4}">
      <dsp:nvSpPr>
        <dsp:cNvPr id="0" name=""/>
        <dsp:cNvSpPr/>
      </dsp:nvSpPr>
      <dsp:spPr>
        <a:xfrm>
          <a:off x="0" y="2174832"/>
          <a:ext cx="10052793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D90294C-92C8-414F-9B3A-EB54FC0A4C4B}">
      <dsp:nvSpPr>
        <dsp:cNvPr id="0" name=""/>
        <dsp:cNvSpPr/>
      </dsp:nvSpPr>
      <dsp:spPr>
        <a:xfrm>
          <a:off x="0" y="2174832"/>
          <a:ext cx="10052793" cy="3621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err="1" smtClean="0">
              <a:hlinkClick xmlns:r="http://schemas.openxmlformats.org/officeDocument/2006/relationships" r:id="rId7"/>
            </a:rPr>
            <a:t>Gurleen</a:t>
          </a:r>
          <a:r>
            <a:rPr lang="en-US" sz="1600" kern="1200" dirty="0" smtClean="0">
              <a:hlinkClick xmlns:r="http://schemas.openxmlformats.org/officeDocument/2006/relationships" r:id="rId7"/>
            </a:rPr>
            <a:t> </a:t>
          </a:r>
          <a:r>
            <a:rPr lang="en-US" sz="1600" kern="1200" dirty="0" err="1" smtClean="0">
              <a:hlinkClick xmlns:r="http://schemas.openxmlformats.org/officeDocument/2006/relationships" r:id="rId7"/>
            </a:rPr>
            <a:t>kaur</a:t>
          </a:r>
          <a:r>
            <a:rPr lang="en-US" sz="1600" kern="1200" dirty="0" smtClean="0">
              <a:hlinkClick xmlns:r="http://schemas.openxmlformats.org/officeDocument/2006/relationships" r:id="rId7"/>
            </a:rPr>
            <a:t>    : https</a:t>
          </a:r>
          <a:r>
            <a:rPr lang="en-US" sz="1600" kern="1200" dirty="0">
              <a:hlinkClick xmlns:r="http://schemas.openxmlformats.org/officeDocument/2006/relationships" r:id="rId7"/>
            </a:rPr>
            <a:t>://github.com/Gurleenkaur202</a:t>
          </a:r>
          <a:endParaRPr lang="en-US" sz="1600" kern="1200" dirty="0"/>
        </a:p>
      </dsp:txBody>
      <dsp:txXfrm>
        <a:off x="0" y="2174832"/>
        <a:ext cx="10052793" cy="362118"/>
      </dsp:txXfrm>
    </dsp:sp>
    <dsp:sp modelId="{B865CF52-D51E-4041-8249-7110AF326950}">
      <dsp:nvSpPr>
        <dsp:cNvPr id="0" name=""/>
        <dsp:cNvSpPr/>
      </dsp:nvSpPr>
      <dsp:spPr>
        <a:xfrm>
          <a:off x="0" y="2536950"/>
          <a:ext cx="10052793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7C442CA-AEBB-4719-9CF9-CE54D429E75E}">
      <dsp:nvSpPr>
        <dsp:cNvPr id="0" name=""/>
        <dsp:cNvSpPr/>
      </dsp:nvSpPr>
      <dsp:spPr>
        <a:xfrm>
          <a:off x="0" y="2536950"/>
          <a:ext cx="10052793" cy="3621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err="1" smtClean="0">
              <a:hlinkClick xmlns:r="http://schemas.openxmlformats.org/officeDocument/2006/relationships" r:id="rId8"/>
            </a:rPr>
            <a:t>Gurkirat</a:t>
          </a:r>
          <a:r>
            <a:rPr lang="en-US" sz="1600" kern="1200" dirty="0" smtClean="0">
              <a:hlinkClick xmlns:r="http://schemas.openxmlformats.org/officeDocument/2006/relationships" r:id="rId8"/>
            </a:rPr>
            <a:t> Singh : https</a:t>
          </a:r>
          <a:r>
            <a:rPr lang="en-US" sz="1600" kern="1200" dirty="0">
              <a:hlinkClick xmlns:r="http://schemas.openxmlformats.org/officeDocument/2006/relationships" r:id="rId8"/>
            </a:rPr>
            <a:t>://github.com/gurkirat13-04</a:t>
          </a:r>
          <a:endParaRPr lang="en-US" sz="1600" kern="1200" dirty="0"/>
        </a:p>
      </dsp:txBody>
      <dsp:txXfrm>
        <a:off x="0" y="2536950"/>
        <a:ext cx="10052793" cy="362118"/>
      </dsp:txXfrm>
    </dsp:sp>
    <dsp:sp modelId="{32005316-9742-4AA8-A4BD-8AF4B8A80F7F}">
      <dsp:nvSpPr>
        <dsp:cNvPr id="0" name=""/>
        <dsp:cNvSpPr/>
      </dsp:nvSpPr>
      <dsp:spPr>
        <a:xfrm>
          <a:off x="0" y="2899068"/>
          <a:ext cx="10052793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BEF0D6C-99F0-45BB-AB54-B257BFCCE712}">
      <dsp:nvSpPr>
        <dsp:cNvPr id="0" name=""/>
        <dsp:cNvSpPr/>
      </dsp:nvSpPr>
      <dsp:spPr>
        <a:xfrm>
          <a:off x="0" y="2899068"/>
          <a:ext cx="10052793" cy="3621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>
              <a:hlinkClick xmlns:r="http://schemas.openxmlformats.org/officeDocument/2006/relationships" r:id="rId9"/>
            </a:rPr>
            <a:t>Dimple   : https</a:t>
          </a:r>
          <a:r>
            <a:rPr lang="en-US" sz="1600" kern="1200" dirty="0">
              <a:hlinkClick xmlns:r="http://schemas.openxmlformats.org/officeDocument/2006/relationships" r:id="rId9"/>
            </a:rPr>
            <a:t>://github.com/Dimple041007</a:t>
          </a:r>
          <a:endParaRPr lang="en-US" sz="1600" kern="1200" dirty="0"/>
        </a:p>
      </dsp:txBody>
      <dsp:txXfrm>
        <a:off x="0" y="2899068"/>
        <a:ext cx="10052793" cy="362118"/>
      </dsp:txXfrm>
    </dsp:sp>
    <dsp:sp modelId="{0F52A486-5907-46F7-A4E1-E9B6E4854468}">
      <dsp:nvSpPr>
        <dsp:cNvPr id="0" name=""/>
        <dsp:cNvSpPr/>
      </dsp:nvSpPr>
      <dsp:spPr>
        <a:xfrm>
          <a:off x="0" y="3261186"/>
          <a:ext cx="10052793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8ADDF90-205A-4DB3-B527-DBCB90481EA8}">
      <dsp:nvSpPr>
        <dsp:cNvPr id="0" name=""/>
        <dsp:cNvSpPr/>
      </dsp:nvSpPr>
      <dsp:spPr>
        <a:xfrm>
          <a:off x="0" y="3261186"/>
          <a:ext cx="10052793" cy="3621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err="1" smtClean="0">
              <a:hlinkClick xmlns:r="http://schemas.openxmlformats.org/officeDocument/2006/relationships" r:id="rId10"/>
            </a:rPr>
            <a:t>Jaismeen</a:t>
          </a:r>
          <a:r>
            <a:rPr lang="en-US" sz="1600" kern="1200" dirty="0" smtClean="0">
              <a:hlinkClick xmlns:r="http://schemas.openxmlformats.org/officeDocument/2006/relationships" r:id="rId10"/>
            </a:rPr>
            <a:t> </a:t>
          </a:r>
          <a:r>
            <a:rPr lang="en-US" sz="1600" kern="1200" dirty="0" err="1" smtClean="0">
              <a:hlinkClick xmlns:r="http://schemas.openxmlformats.org/officeDocument/2006/relationships" r:id="rId10"/>
            </a:rPr>
            <a:t>kaur</a:t>
          </a:r>
          <a:r>
            <a:rPr lang="en-US" sz="1600" kern="1200" dirty="0" smtClean="0">
              <a:hlinkClick xmlns:r="http://schemas.openxmlformats.org/officeDocument/2006/relationships" r:id="rId10"/>
            </a:rPr>
            <a:t> : https</a:t>
          </a:r>
          <a:r>
            <a:rPr lang="en-US" sz="1600" kern="1200" dirty="0">
              <a:hlinkClick xmlns:r="http://schemas.openxmlformats.org/officeDocument/2006/relationships" r:id="rId10"/>
            </a:rPr>
            <a:t>://github.com/Jaismeen-123</a:t>
          </a:r>
          <a:endParaRPr lang="en-US" sz="1600" kern="1200" dirty="0"/>
        </a:p>
      </dsp:txBody>
      <dsp:txXfrm>
        <a:off x="0" y="3261186"/>
        <a:ext cx="10052793" cy="362118"/>
      </dsp:txXfrm>
    </dsp:sp>
    <dsp:sp modelId="{51D695C2-04B8-4726-B993-8FA3677D319D}">
      <dsp:nvSpPr>
        <dsp:cNvPr id="0" name=""/>
        <dsp:cNvSpPr/>
      </dsp:nvSpPr>
      <dsp:spPr>
        <a:xfrm>
          <a:off x="0" y="3623304"/>
          <a:ext cx="10052793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B1BFDC6-112C-477A-B813-621666C4434C}">
      <dsp:nvSpPr>
        <dsp:cNvPr id="0" name=""/>
        <dsp:cNvSpPr/>
      </dsp:nvSpPr>
      <dsp:spPr>
        <a:xfrm>
          <a:off x="0" y="3623304"/>
          <a:ext cx="10052793" cy="3621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600" kern="1200" dirty="0" err="1" smtClean="0">
              <a:hlinkClick xmlns:r="http://schemas.openxmlformats.org/officeDocument/2006/relationships" r:id="rId11"/>
            </a:rPr>
            <a:t>Amandeep</a:t>
          </a:r>
          <a:r>
            <a:rPr lang="en-IN" sz="1600" kern="1200" dirty="0" smtClean="0">
              <a:hlinkClick xmlns:r="http://schemas.openxmlformats.org/officeDocument/2006/relationships" r:id="rId11"/>
            </a:rPr>
            <a:t> </a:t>
          </a:r>
          <a:r>
            <a:rPr lang="en-IN" sz="1600" kern="1200" dirty="0" err="1" smtClean="0">
              <a:hlinkClick xmlns:r="http://schemas.openxmlformats.org/officeDocument/2006/relationships" r:id="rId11"/>
            </a:rPr>
            <a:t>singh</a:t>
          </a:r>
          <a:r>
            <a:rPr lang="en-IN" sz="1600" kern="1200" dirty="0" smtClean="0">
              <a:hlinkClick xmlns:r="http://schemas.openxmlformats.org/officeDocument/2006/relationships" r:id="rId11"/>
            </a:rPr>
            <a:t> : Amandeep1808 · </a:t>
          </a:r>
          <a:r>
            <a:rPr lang="en-IN" sz="1600" kern="1200" dirty="0" err="1" smtClean="0">
              <a:hlinkClick xmlns:r="http://schemas.openxmlformats.org/officeDocument/2006/relationships" r:id="rId11"/>
            </a:rPr>
            <a:t>GitHub</a:t>
          </a:r>
          <a:endParaRPr lang="en-US" sz="1600" kern="1200" dirty="0"/>
        </a:p>
      </dsp:txBody>
      <dsp:txXfrm>
        <a:off x="0" y="3623304"/>
        <a:ext cx="10052793" cy="362118"/>
      </dsp:txXfrm>
    </dsp:sp>
    <dsp:sp modelId="{6D9BF359-CA29-4A11-A830-102D3E610FFD}">
      <dsp:nvSpPr>
        <dsp:cNvPr id="0" name=""/>
        <dsp:cNvSpPr/>
      </dsp:nvSpPr>
      <dsp:spPr>
        <a:xfrm>
          <a:off x="0" y="3985423"/>
          <a:ext cx="10052793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3145CF-8733-4899-8D36-7679B7079AD1}">
      <dsp:nvSpPr>
        <dsp:cNvPr id="0" name=""/>
        <dsp:cNvSpPr/>
      </dsp:nvSpPr>
      <dsp:spPr>
        <a:xfrm>
          <a:off x="0" y="3985423"/>
          <a:ext cx="10052793" cy="3621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err="1" smtClean="0">
              <a:hlinkClick xmlns:r="http://schemas.openxmlformats.org/officeDocument/2006/relationships" r:id="rId12"/>
            </a:rPr>
            <a:t>Arshpreet</a:t>
          </a:r>
          <a:r>
            <a:rPr lang="en-US" sz="1600" kern="1200" dirty="0" smtClean="0">
              <a:hlinkClick xmlns:r="http://schemas.openxmlformats.org/officeDocument/2006/relationships" r:id="rId12"/>
            </a:rPr>
            <a:t> Singh : https</a:t>
          </a:r>
          <a:r>
            <a:rPr lang="en-US" sz="1600" kern="1200" dirty="0">
              <a:hlinkClick xmlns:r="http://schemas.openxmlformats.org/officeDocument/2006/relationships" r:id="rId12"/>
            </a:rPr>
            <a:t>://github.com/arshpreetsinghb4-creator</a:t>
          </a:r>
          <a:endParaRPr lang="en-US" sz="1600" kern="1200" dirty="0"/>
        </a:p>
      </dsp:txBody>
      <dsp:txXfrm>
        <a:off x="0" y="3985423"/>
        <a:ext cx="10052793" cy="36211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2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041924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2AA1559D-7D95-68E7-D21E-5D5D80CEF6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EF9ECECF-C59B-F5D3-27DC-F88B383DC9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4E5C3A43-3120-21FB-46B2-8192C80F9C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E4F15898-B944-B9DD-BB4D-C3FD705DE9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34808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4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22.png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1C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377440"/>
            <a:ext cx="6400800" cy="6400800"/>
          </a:xfrm>
          <a:prstGeom prst="ellipse">
            <a:avLst/>
          </a:prstGeom>
          <a:solidFill>
            <a:srgbClr val="0D2B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692640" y="-1097280"/>
            <a:ext cx="4023360" cy="4023360"/>
          </a:xfrm>
          <a:prstGeom prst="ellipse">
            <a:avLst/>
          </a:prstGeom>
          <a:solidFill>
            <a:srgbClr val="123A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822960" y="1691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B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AI/ML BUSINESS CASE STUDY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103120"/>
            <a:ext cx="96926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46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Detecting Fraudulent Digital</a:t>
            </a:r>
            <a:endParaRPr lang="en-US" sz="4200" dirty="0"/>
          </a:p>
          <a:p>
            <a:pPr marL="0" indent="0">
              <a:lnSpc>
                <a:spcPts val="46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Transactions at Paytm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794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AI/ML to protect India's largest digital payments platform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822960" y="4434840"/>
            <a:ext cx="1463040" cy="0"/>
          </a:xfrm>
          <a:prstGeom prst="line">
            <a:avLst/>
          </a:prstGeom>
          <a:noFill/>
          <a:ln w="381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822960" y="480060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023360" y="50749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223760" y="480060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7223760" y="50749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B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/ INDUSTRY OVERVIEW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2B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Paytm?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5577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35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Paytm (operated by One97 Communications Ltd.) is one of India's largest digital financial services companies, built on a mobile payments app used by hundreds of millions of consumers and merchants.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493776" y="2798064"/>
            <a:ext cx="566928" cy="566928"/>
          </a:xfrm>
          <a:prstGeom prst="ellipse">
            <a:avLst/>
          </a:prstGeom>
          <a:solidFill>
            <a:srgbClr val="0D2B52"/>
          </a:solidFill>
          <a:ln/>
          <a:effectLst>
            <a:outerShdw blurRad="76200" dist="25400" dir="5400000" algn="bl" rotWithShape="0">
              <a:srgbClr val="1A1A1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icon_smartphone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839" y="2934127"/>
            <a:ext cx="294803" cy="29480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234440" y="2788920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D2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Mobile-First Payments Platform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1234440" y="3081528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UPI transfers, mobile &amp; DTH recharge, bill payments, QR-code merchant checkout.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93776" y="3849624"/>
            <a:ext cx="566928" cy="566928"/>
          </a:xfrm>
          <a:prstGeom prst="ellipse">
            <a:avLst/>
          </a:prstGeom>
          <a:solidFill>
            <a:srgbClr val="0D2B52"/>
          </a:solidFill>
          <a:ln/>
          <a:effectLst>
            <a:outerShdw blurRad="76200" dist="25400" dir="5400000" algn="bl" rotWithShape="0">
              <a:srgbClr val="1A1A1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0" name="Image 1" descr="icon_chart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839" y="3985687"/>
            <a:ext cx="294803" cy="294803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234440" y="3840480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D2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Services</a:t>
            </a:r>
            <a:endParaRPr lang="en-US" sz="1350" dirty="0"/>
          </a:p>
        </p:txBody>
      </p:sp>
      <p:sp>
        <p:nvSpPr>
          <p:cNvPr id="12" name="Text 8"/>
          <p:cNvSpPr txBox="1"/>
          <p:nvPr/>
        </p:nvSpPr>
        <p:spPr>
          <a:xfrm>
            <a:off x="1234440" y="4133088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Lending via partner NBFCs/banks, insurance distribution, wealth and stock broking.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493776" y="4901184"/>
            <a:ext cx="566928" cy="566928"/>
          </a:xfrm>
          <a:prstGeom prst="ellipse">
            <a:avLst/>
          </a:prstGeom>
          <a:solidFill>
            <a:srgbClr val="0D2B52"/>
          </a:solidFill>
          <a:ln/>
          <a:effectLst>
            <a:outerShdw blurRad="76200" dist="25400" dir="5400000" algn="bl" rotWithShape="0">
              <a:srgbClr val="1A1A1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4" name="Image 2" descr="icon_shopping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839" y="5037247"/>
            <a:ext cx="294803" cy="294803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234440" y="4892040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D2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Commerce &amp; Ticketing</a:t>
            </a:r>
            <a:endParaRPr lang="en-US" sz="1350" dirty="0"/>
          </a:p>
        </p:txBody>
      </p:sp>
      <p:sp>
        <p:nvSpPr>
          <p:cNvPr id="16" name="Text 11"/>
          <p:cNvSpPr txBox="1"/>
          <p:nvPr/>
        </p:nvSpPr>
        <p:spPr>
          <a:xfrm>
            <a:off x="1234440" y="5184648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Movie, event, and travel ticketing, plus an online marketplace for merchants.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6537960" y="1463040"/>
            <a:ext cx="5074920" cy="4663440"/>
          </a:xfrm>
          <a:prstGeom prst="roundRect">
            <a:avLst>
              <a:gd name="adj" fmla="val 2353"/>
            </a:avLst>
          </a:prstGeom>
          <a:solidFill>
            <a:srgbClr val="F4F7FB"/>
          </a:solidFill>
          <a:ln w="12700">
            <a:solidFill>
              <a:srgbClr val="DCE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3"/>
          <p:cNvSpPr txBox="1"/>
          <p:nvPr/>
        </p:nvSpPr>
        <p:spPr>
          <a:xfrm>
            <a:off x="6903720" y="169164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0B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CONTEXT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903720" y="2203704"/>
            <a:ext cx="109728" cy="109728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5"/>
          <p:cNvSpPr txBox="1"/>
          <p:nvPr/>
        </p:nvSpPr>
        <p:spPr>
          <a:xfrm>
            <a:off x="7178040" y="2093976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2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Booming Digital Payments Market</a:t>
            </a:r>
            <a:endParaRPr lang="en-US" sz="1250" dirty="0"/>
          </a:p>
        </p:txBody>
      </p:sp>
      <p:sp>
        <p:nvSpPr>
          <p:cNvPr id="21" name="Text 16"/>
          <p:cNvSpPr txBox="1"/>
          <p:nvPr/>
        </p:nvSpPr>
        <p:spPr>
          <a:xfrm>
            <a:off x="7178040" y="2368296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UPI transaction value crossed ₹200 lakh crore in FY24, growing 137% in two years (RBI).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6903720" y="3118104"/>
            <a:ext cx="109728" cy="109728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18"/>
          <p:cNvSpPr txBox="1"/>
          <p:nvPr/>
        </p:nvSpPr>
        <p:spPr>
          <a:xfrm>
            <a:off x="7178040" y="3008376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2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Millions of Customers &amp; Merchants</a:t>
            </a:r>
            <a:endParaRPr lang="en-US" sz="1250" dirty="0"/>
          </a:p>
        </p:txBody>
      </p:sp>
      <p:sp>
        <p:nvSpPr>
          <p:cNvPr id="24" name="Text 19"/>
          <p:cNvSpPr txBox="1"/>
          <p:nvPr/>
        </p:nvSpPr>
        <p:spPr>
          <a:xfrm>
            <a:off x="7178040" y="3282696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Everyday consumers, small shopkeepers, and large enterprises all transact on the platform.</a:t>
            </a:r>
            <a:endParaRPr lang="en-US" sz="1050" dirty="0"/>
          </a:p>
        </p:txBody>
      </p:sp>
      <p:sp>
        <p:nvSpPr>
          <p:cNvPr id="25" name="Shape 20"/>
          <p:cNvSpPr/>
          <p:nvPr/>
        </p:nvSpPr>
        <p:spPr>
          <a:xfrm>
            <a:off x="6903720" y="4032504"/>
            <a:ext cx="109728" cy="109728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1"/>
          <p:cNvSpPr txBox="1"/>
          <p:nvPr/>
        </p:nvSpPr>
        <p:spPr>
          <a:xfrm>
            <a:off x="7178040" y="3922776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2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Rising Fraud Alongside Growth</a:t>
            </a:r>
            <a:endParaRPr lang="en-US" sz="1250" dirty="0"/>
          </a:p>
        </p:txBody>
      </p:sp>
      <p:sp>
        <p:nvSpPr>
          <p:cNvPr id="27" name="Text 22"/>
          <p:cNvSpPr txBox="1"/>
          <p:nvPr/>
        </p:nvSpPr>
        <p:spPr>
          <a:xfrm>
            <a:off x="7178040" y="4197096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payment fraud value jumped over 5x year-on-year in FY24, per RBI's Annual Report.</a:t>
            </a:r>
            <a:endParaRPr lang="en-US" sz="1050" dirty="0"/>
          </a:p>
        </p:txBody>
      </p:sp>
      <p:sp>
        <p:nvSpPr>
          <p:cNvPr id="28" name="Shape 23"/>
          <p:cNvSpPr/>
          <p:nvPr/>
        </p:nvSpPr>
        <p:spPr>
          <a:xfrm>
            <a:off x="6903720" y="4937760"/>
            <a:ext cx="4434840" cy="0"/>
          </a:xfrm>
          <a:prstGeom prst="line">
            <a:avLst/>
          </a:prstGeom>
          <a:noFill/>
          <a:ln w="12700">
            <a:solidFill>
              <a:srgbClr val="DCE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4"/>
          <p:cNvSpPr txBox="1"/>
          <p:nvPr/>
        </p:nvSpPr>
        <p:spPr>
          <a:xfrm>
            <a:off x="6903720" y="507492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0B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&amp; SERVICES</a:t>
            </a:r>
            <a:endParaRPr lang="en-US" sz="1200" dirty="0"/>
          </a:p>
        </p:txBody>
      </p:sp>
      <p:sp>
        <p:nvSpPr>
          <p:cNvPr id="30" name="Text 25"/>
          <p:cNvSpPr txBox="1"/>
          <p:nvPr/>
        </p:nvSpPr>
        <p:spPr>
          <a:xfrm>
            <a:off x="6903720" y="5367528"/>
            <a:ext cx="4434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wallet  •  UPI  •  Payment gateway  •  Lending  •  Insurance  •  Wealth management  •  Ticketing</a:t>
            </a:r>
            <a:endParaRPr lang="en-US" sz="1050" dirty="0"/>
          </a:p>
        </p:txBody>
      </p:sp>
      <p:sp>
        <p:nvSpPr>
          <p:cNvPr id="31" name="Text 26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1C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4206240"/>
            <a:ext cx="4572000" cy="4572000"/>
          </a:xfrm>
          <a:prstGeom prst="ellipse">
            <a:avLst/>
          </a:prstGeom>
          <a:solidFill>
            <a:srgbClr val="0D2B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B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PROBLEM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7724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6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Detecting Fraudulent</a:t>
            </a:r>
            <a:endParaRPr lang="en-US" sz="3200" dirty="0"/>
          </a:p>
          <a:p>
            <a:pPr marL="0" indent="0">
              <a:lnSpc>
                <a:spcPts val="36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Digital Transactions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286000"/>
            <a:ext cx="64922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35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UPI and wallet volumes grow, so do scams, stolen-credential misuse, fake merchant QR codes, account takeovers, and money-mule networks moving stolen funds in seconds. The problem: catch fraud in real time, without wrongly blocking genuine customers.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94360" y="4023360"/>
            <a:ext cx="640080" cy="640080"/>
          </a:xfrm>
          <a:prstGeom prst="ellipse">
            <a:avLst/>
          </a:prstGeom>
          <a:solidFill>
            <a:srgbClr val="FF6B35"/>
          </a:solidFill>
          <a:ln/>
          <a:effectLst>
            <a:outerShdw blurRad="76200" dist="25400" dir="5400000" algn="bl" rotWithShape="0">
              <a:srgbClr val="1A1A1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0" descr="icon_alert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979" y="4176979"/>
            <a:ext cx="332842" cy="33284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371600" y="40690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1371600" y="4343400"/>
            <a:ext cx="5669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AF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AI/ML system that scores every transaction for fraud risk within milliseconds and triggers the right business action automatically.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452360" y="1417320"/>
            <a:ext cx="4160520" cy="4709160"/>
          </a:xfrm>
          <a:prstGeom prst="roundRect">
            <a:avLst>
              <a:gd name="adj" fmla="val 2637"/>
            </a:avLst>
          </a:prstGeom>
          <a:solidFill>
            <a:srgbClr val="112E50"/>
          </a:solidFill>
          <a:ln w="12700">
            <a:solidFill>
              <a:srgbClr val="1E42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7818120" y="16916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00B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7818120" y="2176272"/>
            <a:ext cx="118872" cy="118872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8092440" y="2112264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Financial Loss</a:t>
            </a:r>
            <a:endParaRPr 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8092440" y="2386584"/>
            <a:ext cx="3337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AF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unresolved fraud is a real rupee loss to Paytm, its banking partners, or customers.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7818120" y="3136392"/>
            <a:ext cx="118872" cy="118872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 txBox="1"/>
          <p:nvPr/>
        </p:nvSpPr>
        <p:spPr>
          <a:xfrm>
            <a:off x="8092440" y="3072384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Exposure</a:t>
            </a:r>
            <a:endParaRPr lang="en-US" sz="1250" dirty="0"/>
          </a:p>
        </p:txBody>
      </p:sp>
      <p:sp>
        <p:nvSpPr>
          <p:cNvPr id="17" name="Text 14"/>
          <p:cNvSpPr txBox="1"/>
          <p:nvPr/>
        </p:nvSpPr>
        <p:spPr>
          <a:xfrm>
            <a:off x="8092440" y="3346704"/>
            <a:ext cx="3337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AF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RBI and NPCI hold payment platforms accountable for fraud controls and reporting.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7818120" y="4096512"/>
            <a:ext cx="118872" cy="118872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 txBox="1"/>
          <p:nvPr/>
        </p:nvSpPr>
        <p:spPr>
          <a:xfrm>
            <a:off x="8092440" y="4032504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is the Product</a:t>
            </a:r>
            <a:endParaRPr lang="en-US" sz="1250" dirty="0"/>
          </a:p>
        </p:txBody>
      </p:sp>
      <p:sp>
        <p:nvSpPr>
          <p:cNvPr id="20" name="Text 17"/>
          <p:cNvSpPr txBox="1"/>
          <p:nvPr/>
        </p:nvSpPr>
        <p:spPr>
          <a:xfrm>
            <a:off x="8092440" y="4306824"/>
            <a:ext cx="3337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AF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payments, one viral fraud story can push millions of users to a competitor app.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7818120" y="5056632"/>
            <a:ext cx="118872" cy="118872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 txBox="1"/>
          <p:nvPr/>
        </p:nvSpPr>
        <p:spPr>
          <a:xfrm>
            <a:off x="8092440" y="4992624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 Confidence</a:t>
            </a:r>
            <a:endParaRPr lang="en-US" sz="1250" dirty="0"/>
          </a:p>
        </p:txBody>
      </p:sp>
      <p:sp>
        <p:nvSpPr>
          <p:cNvPr id="23" name="Text 20"/>
          <p:cNvSpPr txBox="1"/>
          <p:nvPr/>
        </p:nvSpPr>
        <p:spPr>
          <a:xfrm>
            <a:off x="8092440" y="5266944"/>
            <a:ext cx="3337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AF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Merchants need certainty that funds settled to them are genuine and irreversible.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B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REQUIRED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2B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Data Would the AI/ML System Need?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fraud-detection model learns patterns from many angles of a transaction — not just the amount, but the context around it.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4F7FB"/>
          </a:solidFill>
          <a:ln w="12700">
            <a:solidFill>
              <a:srgbClr val="DCE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86384" y="2157984"/>
            <a:ext cx="530352" cy="530352"/>
          </a:xfrm>
          <a:prstGeom prst="ellipse">
            <a:avLst/>
          </a:prstGeom>
          <a:solidFill>
            <a:srgbClr val="0D2B52"/>
          </a:solidFill>
          <a:ln/>
          <a:effectLst>
            <a:outerShdw blurRad="76200" dist="25400" dir="5400000" algn="bl" rotWithShape="0">
              <a:srgbClr val="1A1A1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0" descr="icon_database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668" y="2285268"/>
            <a:ext cx="275783" cy="275783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77240" y="278892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2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Data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3108960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Amount, time, frequency, sender/receiver ID, payment mode (UPI/wallet/card), merchant category.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325112" y="196596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4F7FB"/>
          </a:solidFill>
          <a:ln w="12700">
            <a:solidFill>
              <a:srgbClr val="DCE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562856" y="2157984"/>
            <a:ext cx="530352" cy="530352"/>
          </a:xfrm>
          <a:prstGeom prst="ellipse">
            <a:avLst/>
          </a:prstGeom>
          <a:solidFill>
            <a:srgbClr val="0D2B52"/>
          </a:solidFill>
          <a:ln/>
          <a:effectLst>
            <a:outerShdw blurRad="76200" dist="25400" dir="5400000" algn="bl" rotWithShape="0">
              <a:srgbClr val="1A1A1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2" name="Image 1" descr="icon_mappin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0140" y="2285268"/>
            <a:ext cx="275783" cy="275783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553712" y="278892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2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&amp; Location Data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4553712" y="3108960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ID, IP address, GPS location, SIM/network change, new-device login signals.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8101584" y="196596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4F7FB"/>
          </a:solidFill>
          <a:ln w="12700">
            <a:solidFill>
              <a:srgbClr val="DCE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8339328" y="2157984"/>
            <a:ext cx="530352" cy="530352"/>
          </a:xfrm>
          <a:prstGeom prst="ellipse">
            <a:avLst/>
          </a:prstGeom>
          <a:solidFill>
            <a:srgbClr val="0D2B52"/>
          </a:solidFill>
          <a:ln/>
          <a:effectLst>
            <a:outerShdw blurRad="76200" dist="25400" dir="5400000" algn="bl" rotWithShape="0">
              <a:srgbClr val="1A1A1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7" name="Image 2" descr="icon_activity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66612" y="2285268"/>
            <a:ext cx="275783" cy="275783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330184" y="278892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2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Patterns</a:t>
            </a:r>
            <a:endParaRPr lang="en-US" sz="1300" dirty="0"/>
          </a:p>
        </p:txBody>
      </p:sp>
      <p:sp>
        <p:nvSpPr>
          <p:cNvPr id="19" name="Text 14"/>
          <p:cNvSpPr txBox="1"/>
          <p:nvPr/>
        </p:nvSpPr>
        <p:spPr>
          <a:xfrm>
            <a:off x="8330184" y="3108960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spending habits, usual login times, typing/tap patterns, deviation from routine.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548640" y="4187952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4F7FB"/>
          </a:solidFill>
          <a:ln w="12700">
            <a:solidFill>
              <a:srgbClr val="DCE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6"/>
          <p:cNvSpPr/>
          <p:nvPr/>
        </p:nvSpPr>
        <p:spPr>
          <a:xfrm>
            <a:off x="786384" y="4379976"/>
            <a:ext cx="530352" cy="530352"/>
          </a:xfrm>
          <a:prstGeom prst="ellipse">
            <a:avLst/>
          </a:prstGeom>
          <a:solidFill>
            <a:srgbClr val="0D2B52"/>
          </a:solidFill>
          <a:ln/>
          <a:effectLst>
            <a:outerShdw blurRad="76200" dist="25400" dir="5400000" algn="bl" rotWithShape="0">
              <a:srgbClr val="1A1A1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2" name="Image 3" descr="icon_users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3668" y="4507260"/>
            <a:ext cx="275783" cy="275783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777240" y="5010912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2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Profile &amp; History</a:t>
            </a:r>
            <a:endParaRPr lang="en-US" sz="1300" dirty="0"/>
          </a:p>
        </p:txBody>
      </p:sp>
      <p:sp>
        <p:nvSpPr>
          <p:cNvPr id="24" name="Text 18"/>
          <p:cNvSpPr txBox="1"/>
          <p:nvPr/>
        </p:nvSpPr>
        <p:spPr>
          <a:xfrm>
            <a:off x="777240" y="5330952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age, KYC status, past complaints, credit/risk score, prior fraud flags.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4325112" y="4187952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4F7FB"/>
          </a:solidFill>
          <a:ln w="12700">
            <a:solidFill>
              <a:srgbClr val="DCE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0"/>
          <p:cNvSpPr/>
          <p:nvPr/>
        </p:nvSpPr>
        <p:spPr>
          <a:xfrm>
            <a:off x="4562856" y="4379976"/>
            <a:ext cx="530352" cy="530352"/>
          </a:xfrm>
          <a:prstGeom prst="ellipse">
            <a:avLst/>
          </a:prstGeom>
          <a:solidFill>
            <a:srgbClr val="0D2B52"/>
          </a:solidFill>
          <a:ln/>
          <a:effectLst>
            <a:outerShdw blurRad="76200" dist="25400" dir="5400000" algn="bl" rotWithShape="0">
              <a:srgbClr val="1A1A1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7" name="Image 4" descr="icon_flag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90140" y="4507260"/>
            <a:ext cx="275783" cy="275783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4553712" y="5010912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2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Complaints</a:t>
            </a:r>
            <a:endParaRPr lang="en-US" sz="1300" dirty="0"/>
          </a:p>
        </p:txBody>
      </p:sp>
      <p:sp>
        <p:nvSpPr>
          <p:cNvPr id="29" name="Text 22"/>
          <p:cNvSpPr txBox="1"/>
          <p:nvPr/>
        </p:nvSpPr>
        <p:spPr>
          <a:xfrm>
            <a:off x="4553712" y="5330952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Reported scam attempts, chargeback requests, and disputed transactions used as labels.</a:t>
            </a:r>
            <a:endParaRPr lang="en-US" sz="1050" dirty="0"/>
          </a:p>
        </p:txBody>
      </p:sp>
      <p:sp>
        <p:nvSpPr>
          <p:cNvPr id="30" name="Shape 23"/>
          <p:cNvSpPr/>
          <p:nvPr/>
        </p:nvSpPr>
        <p:spPr>
          <a:xfrm>
            <a:off x="8101584" y="4187952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4F7FB"/>
          </a:solidFill>
          <a:ln w="12700">
            <a:solidFill>
              <a:srgbClr val="DCE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4"/>
          <p:cNvSpPr/>
          <p:nvPr/>
        </p:nvSpPr>
        <p:spPr>
          <a:xfrm>
            <a:off x="8339328" y="4379976"/>
            <a:ext cx="530352" cy="530352"/>
          </a:xfrm>
          <a:prstGeom prst="ellipse">
            <a:avLst/>
          </a:prstGeom>
          <a:solidFill>
            <a:srgbClr val="0D2B52"/>
          </a:solidFill>
          <a:ln/>
          <a:effectLst>
            <a:outerShdw blurRad="76200" dist="25400" dir="5400000" algn="bl" rotWithShape="0">
              <a:srgbClr val="1A1A1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2" name="Image 5" descr="icon_wifi_FFFFF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66612" y="4507260"/>
            <a:ext cx="275783" cy="275783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8330184" y="5010912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2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&amp; Graph Data</a:t>
            </a:r>
            <a:endParaRPr lang="en-US" sz="1300" dirty="0"/>
          </a:p>
        </p:txBody>
      </p:sp>
      <p:sp>
        <p:nvSpPr>
          <p:cNvPr id="34" name="Text 26"/>
          <p:cNvSpPr txBox="1"/>
          <p:nvPr/>
        </p:nvSpPr>
        <p:spPr>
          <a:xfrm>
            <a:off x="8330184" y="5330952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between accounts, devices, and merchants that reveal fraud rings or mule networks.</a:t>
            </a:r>
            <a:endParaRPr lang="en-US" sz="1050" dirty="0"/>
          </a:p>
        </p:txBody>
      </p:sp>
      <p:sp>
        <p:nvSpPr>
          <p:cNvPr id="35" name="Text 27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B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AI/ML SOLUTION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2B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Proposed AI/ML Solution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supervised machine-learning model, similar to tools already used by RBI (MuleHunter.AI) and NPCI's bank fraud-monitoring systems, scores every transaction in real time.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3520440" cy="3611880"/>
          </a:xfrm>
          <a:prstGeom prst="roundRect">
            <a:avLst>
              <a:gd name="adj" fmla="val 3117"/>
            </a:avLst>
          </a:prstGeom>
          <a:solidFill>
            <a:srgbClr val="F4F7FB"/>
          </a:solidFill>
          <a:ln w="12700">
            <a:solidFill>
              <a:srgbClr val="DCE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965960" y="2583180"/>
            <a:ext cx="685800" cy="685800"/>
          </a:xfrm>
          <a:prstGeom prst="ellipse">
            <a:avLst/>
          </a:prstGeom>
          <a:solidFill>
            <a:srgbClr val="0D2B52"/>
          </a:solidFill>
          <a:ln/>
          <a:effectLst>
            <a:outerShdw blurRad="76200" dist="25400" dir="5400000" algn="bl" rotWithShape="0">
              <a:srgbClr val="1A1A1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0" descr="icon_cpu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0552" y="2747772"/>
            <a:ext cx="356616" cy="356616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22960" y="3429000"/>
            <a:ext cx="2971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0D2B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Real-Time Risk-Scoring Model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4114800"/>
            <a:ext cx="28803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05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gradient-boosted or deep-learning classifier trained on historic labeled transactions (genuine vs. fraud) outputs a risk probability for each new transaction.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325112" y="2148840"/>
            <a:ext cx="3520440" cy="3611880"/>
          </a:xfrm>
          <a:prstGeom prst="roundRect">
            <a:avLst>
              <a:gd name="adj" fmla="val 3117"/>
            </a:avLst>
          </a:prstGeom>
          <a:solidFill>
            <a:srgbClr val="F4F7FB"/>
          </a:solidFill>
          <a:ln w="12700">
            <a:solidFill>
              <a:srgbClr val="DCE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5742432" y="2583180"/>
            <a:ext cx="685800" cy="685800"/>
          </a:xfrm>
          <a:prstGeom prst="ellipse">
            <a:avLst/>
          </a:prstGeom>
          <a:solidFill>
            <a:srgbClr val="0D2B52"/>
          </a:solidFill>
          <a:ln/>
          <a:effectLst>
            <a:outerShdw blurRad="76200" dist="25400" dir="5400000" algn="bl" rotWithShape="0">
              <a:srgbClr val="1A1A1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2" name="Image 1" descr="icon_wifi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7024" y="2747772"/>
            <a:ext cx="356616" cy="356616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599432" y="3429000"/>
            <a:ext cx="2971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0D2B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Graph-Based Network Analysis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4645152" y="4114800"/>
            <a:ext cx="28803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05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Analyzes links between accounts, devices, and merchants to detect coordinated fraud rings and money-mule networks that single-transaction models miss.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8101584" y="2148840"/>
            <a:ext cx="3520440" cy="3611880"/>
          </a:xfrm>
          <a:prstGeom prst="roundRect">
            <a:avLst>
              <a:gd name="adj" fmla="val 3117"/>
            </a:avLst>
          </a:prstGeom>
          <a:solidFill>
            <a:srgbClr val="F4F7FB"/>
          </a:solidFill>
          <a:ln w="12700">
            <a:solidFill>
              <a:srgbClr val="DCE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9518904" y="2583180"/>
            <a:ext cx="685800" cy="685800"/>
          </a:xfrm>
          <a:prstGeom prst="ellipse">
            <a:avLst/>
          </a:prstGeom>
          <a:solidFill>
            <a:srgbClr val="0D2B52"/>
          </a:solidFill>
          <a:ln/>
          <a:effectLst>
            <a:outerShdw blurRad="76200" dist="25400" dir="5400000" algn="bl" rotWithShape="0">
              <a:srgbClr val="1A1A1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7" name="Image 2" descr="icon_refresh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83496" y="2747772"/>
            <a:ext cx="356616" cy="356616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375904" y="3429000"/>
            <a:ext cx="2971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0D2B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Continuous Learning Loop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8421624" y="4114800"/>
            <a:ext cx="28803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05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retrains regularly on newly confirmed fraud and false-positive cases, keeping pace with fast-evolving scam tactics.</a:t>
            </a:r>
            <a:endParaRPr lang="en-US" sz="1050" dirty="0"/>
          </a:p>
        </p:txBody>
      </p:sp>
      <p:sp>
        <p:nvSpPr>
          <p:cNvPr id="20" name="Text 15"/>
          <p:cNvSpPr txBox="1"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i="1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real-world example: RBI's MuleHunter.AI (launched Dec 2024) already uses AI/ML to identify mule accounts across partner banks — the same class of solution proposed here for Paytm.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B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AI SOLUTION WORKS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2B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Data to Business Outcome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1874520" cy="2331720"/>
          </a:xfrm>
          <a:prstGeom prst="roundRect">
            <a:avLst>
              <a:gd name="adj" fmla="val 4878"/>
            </a:avLst>
          </a:prstGeom>
          <a:solidFill>
            <a:srgbClr val="F4F7FB"/>
          </a:solidFill>
          <a:ln w="12700">
            <a:solidFill>
              <a:srgbClr val="DCE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202436" y="2185416"/>
            <a:ext cx="566928" cy="566928"/>
          </a:xfrm>
          <a:prstGeom prst="ellipse">
            <a:avLst/>
          </a:prstGeom>
          <a:solidFill>
            <a:srgbClr val="0D2B52"/>
          </a:solidFill>
          <a:ln/>
          <a:effectLst>
            <a:outerShdw blurRad="76200" dist="25400" dir="5400000" algn="bl" rotWithShape="0">
              <a:srgbClr val="1A1A1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icon_database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8499" y="2321479"/>
            <a:ext cx="294803" cy="29480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0080" y="288036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0D2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Data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3383280"/>
            <a:ext cx="16550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5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Transaction, device, behavior &amp; profile data</a:t>
            </a:r>
            <a:endParaRPr lang="en-US" sz="950" dirty="0"/>
          </a:p>
        </p:txBody>
      </p:sp>
      <p:sp>
        <p:nvSpPr>
          <p:cNvPr id="9" name="Text 6"/>
          <p:cNvSpPr txBox="1"/>
          <p:nvPr/>
        </p:nvSpPr>
        <p:spPr>
          <a:xfrm>
            <a:off x="2409444" y="285750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B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852928" y="1965960"/>
            <a:ext cx="1874520" cy="2331720"/>
          </a:xfrm>
          <a:prstGeom prst="roundRect">
            <a:avLst>
              <a:gd name="adj" fmla="val 4878"/>
            </a:avLst>
          </a:prstGeom>
          <a:solidFill>
            <a:srgbClr val="0D2B52"/>
          </a:solidFill>
          <a:ln w="12700">
            <a:solidFill>
              <a:srgbClr val="DCE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3506724" y="2185416"/>
            <a:ext cx="566928" cy="566928"/>
          </a:xfrm>
          <a:prstGeom prst="ellipse">
            <a:avLst/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A1A1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2" name="Image 1" descr="icon_cpu_0D2B5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2787" y="2321479"/>
            <a:ext cx="294803" cy="294803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2944368" y="288036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AI/ML System</a:t>
            </a:r>
            <a:endParaRPr lang="en-US" sz="1250" dirty="0"/>
          </a:p>
        </p:txBody>
      </p:sp>
      <p:sp>
        <p:nvSpPr>
          <p:cNvPr id="14" name="Text 10"/>
          <p:cNvSpPr txBox="1"/>
          <p:nvPr/>
        </p:nvSpPr>
        <p:spPr>
          <a:xfrm>
            <a:off x="2962656" y="3383280"/>
            <a:ext cx="16550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5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model scores the transaction</a:t>
            </a:r>
            <a:endParaRPr lang="en-US" sz="950" dirty="0"/>
          </a:p>
        </p:txBody>
      </p:sp>
      <p:sp>
        <p:nvSpPr>
          <p:cNvPr id="15" name="Text 11"/>
          <p:cNvSpPr txBox="1"/>
          <p:nvPr/>
        </p:nvSpPr>
        <p:spPr>
          <a:xfrm>
            <a:off x="4713732" y="285750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B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2"/>
          <p:cNvSpPr/>
          <p:nvPr/>
        </p:nvSpPr>
        <p:spPr>
          <a:xfrm>
            <a:off x="5157216" y="1965960"/>
            <a:ext cx="1874520" cy="2331720"/>
          </a:xfrm>
          <a:prstGeom prst="roundRect">
            <a:avLst>
              <a:gd name="adj" fmla="val 4878"/>
            </a:avLst>
          </a:prstGeom>
          <a:solidFill>
            <a:srgbClr val="F4F7FB"/>
          </a:solidFill>
          <a:ln w="12700">
            <a:solidFill>
              <a:srgbClr val="DCE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5811012" y="2185416"/>
            <a:ext cx="566928" cy="566928"/>
          </a:xfrm>
          <a:prstGeom prst="ellipse">
            <a:avLst/>
          </a:prstGeom>
          <a:solidFill>
            <a:srgbClr val="0D2B52"/>
          </a:solidFill>
          <a:ln/>
          <a:effectLst>
            <a:outerShdw blurRad="76200" dist="25400" dir="5400000" algn="bl" rotWithShape="0">
              <a:srgbClr val="1A1A1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8" name="Image 2" descr="icon_target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7075" y="2321479"/>
            <a:ext cx="294803" cy="294803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5248656" y="288036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0D2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1250" dirty="0"/>
          </a:p>
        </p:txBody>
      </p:sp>
      <p:sp>
        <p:nvSpPr>
          <p:cNvPr id="20" name="Text 15"/>
          <p:cNvSpPr txBox="1"/>
          <p:nvPr/>
        </p:nvSpPr>
        <p:spPr>
          <a:xfrm>
            <a:off x="5266944" y="3383280"/>
            <a:ext cx="16550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5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score: Safe / Suspicious / Fraud</a:t>
            </a:r>
            <a:endParaRPr lang="en-US" sz="950" dirty="0"/>
          </a:p>
        </p:txBody>
      </p:sp>
      <p:sp>
        <p:nvSpPr>
          <p:cNvPr id="21" name="Text 16"/>
          <p:cNvSpPr txBox="1"/>
          <p:nvPr/>
        </p:nvSpPr>
        <p:spPr>
          <a:xfrm>
            <a:off x="7018020" y="285750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B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2" name="Shape 17"/>
          <p:cNvSpPr/>
          <p:nvPr/>
        </p:nvSpPr>
        <p:spPr>
          <a:xfrm>
            <a:off x="7461504" y="1965960"/>
            <a:ext cx="1874520" cy="2331720"/>
          </a:xfrm>
          <a:prstGeom prst="roundRect">
            <a:avLst>
              <a:gd name="adj" fmla="val 4878"/>
            </a:avLst>
          </a:prstGeom>
          <a:solidFill>
            <a:srgbClr val="FF6B35"/>
          </a:solidFill>
          <a:ln w="12700">
            <a:solidFill>
              <a:srgbClr val="DCE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18"/>
          <p:cNvSpPr/>
          <p:nvPr/>
        </p:nvSpPr>
        <p:spPr>
          <a:xfrm>
            <a:off x="8115300" y="2185416"/>
            <a:ext cx="566928" cy="566928"/>
          </a:xfrm>
          <a:prstGeom prst="ellipse">
            <a:avLst/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A1A1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4" name="Image 3" descr="icon_zap_FF6B3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51363" y="2321479"/>
            <a:ext cx="294803" cy="294803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7552944" y="288036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Action</a:t>
            </a:r>
            <a:endParaRPr lang="en-US" sz="1250" dirty="0"/>
          </a:p>
        </p:txBody>
      </p:sp>
      <p:sp>
        <p:nvSpPr>
          <p:cNvPr id="26" name="Text 20"/>
          <p:cNvSpPr txBox="1"/>
          <p:nvPr/>
        </p:nvSpPr>
        <p:spPr>
          <a:xfrm>
            <a:off x="7571232" y="3383280"/>
            <a:ext cx="16550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5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Approve, step-up verify, or block</a:t>
            </a:r>
            <a:endParaRPr lang="en-US" sz="950" dirty="0"/>
          </a:p>
        </p:txBody>
      </p:sp>
      <p:sp>
        <p:nvSpPr>
          <p:cNvPr id="27" name="Text 21"/>
          <p:cNvSpPr txBox="1"/>
          <p:nvPr/>
        </p:nvSpPr>
        <p:spPr>
          <a:xfrm>
            <a:off x="9322308" y="285750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B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8" name="Shape 22"/>
          <p:cNvSpPr/>
          <p:nvPr/>
        </p:nvSpPr>
        <p:spPr>
          <a:xfrm>
            <a:off x="9765792" y="1965960"/>
            <a:ext cx="1874520" cy="2331720"/>
          </a:xfrm>
          <a:prstGeom prst="roundRect">
            <a:avLst>
              <a:gd name="adj" fmla="val 4878"/>
            </a:avLst>
          </a:prstGeom>
          <a:solidFill>
            <a:srgbClr val="F4F7FB"/>
          </a:solidFill>
          <a:ln w="12700">
            <a:solidFill>
              <a:srgbClr val="DCE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3"/>
          <p:cNvSpPr/>
          <p:nvPr/>
        </p:nvSpPr>
        <p:spPr>
          <a:xfrm>
            <a:off x="10419588" y="2185416"/>
            <a:ext cx="566928" cy="566928"/>
          </a:xfrm>
          <a:prstGeom prst="ellipse">
            <a:avLst/>
          </a:prstGeom>
          <a:solidFill>
            <a:srgbClr val="0D2B52"/>
          </a:solidFill>
          <a:ln/>
          <a:effectLst>
            <a:outerShdw blurRad="76200" dist="25400" dir="5400000" algn="bl" rotWithShape="0">
              <a:srgbClr val="1A1A1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0" name="Image 4" descr="icon_trendup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55651" y="2321479"/>
            <a:ext cx="294803" cy="294803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9857232" y="288036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0D2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Outcome</a:t>
            </a:r>
            <a:endParaRPr lang="en-US" sz="1250" dirty="0"/>
          </a:p>
        </p:txBody>
      </p:sp>
      <p:sp>
        <p:nvSpPr>
          <p:cNvPr id="32" name="Text 25"/>
          <p:cNvSpPr txBox="1"/>
          <p:nvPr/>
        </p:nvSpPr>
        <p:spPr>
          <a:xfrm>
            <a:off x="9875520" y="3383280"/>
            <a:ext cx="16550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5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Losses reduced, trust preserved</a:t>
            </a:r>
            <a:endParaRPr lang="en-US" sz="950" dirty="0"/>
          </a:p>
        </p:txBody>
      </p:sp>
      <p:sp>
        <p:nvSpPr>
          <p:cNvPr id="33" name="Shape 26"/>
          <p:cNvSpPr/>
          <p:nvPr/>
        </p:nvSpPr>
        <p:spPr>
          <a:xfrm>
            <a:off x="548640" y="4709160"/>
            <a:ext cx="11064240" cy="1417320"/>
          </a:xfrm>
          <a:prstGeom prst="roundRect">
            <a:avLst>
              <a:gd name="adj" fmla="val 6452"/>
            </a:avLst>
          </a:prstGeom>
          <a:solidFill>
            <a:srgbClr val="F4F7FB"/>
          </a:solidFill>
          <a:ln w="12700">
            <a:solidFill>
              <a:srgbClr val="DCE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27"/>
          <p:cNvSpPr txBox="1"/>
          <p:nvPr/>
        </p:nvSpPr>
        <p:spPr>
          <a:xfrm>
            <a:off x="868680" y="48920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0B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PLAIN BUSINESS LANGUAGE</a:t>
            </a:r>
            <a:endParaRPr lang="en-US" sz="1100" dirty="0"/>
          </a:p>
        </p:txBody>
      </p:sp>
      <p:sp>
        <p:nvSpPr>
          <p:cNvPr id="35" name="Text 28"/>
          <p:cNvSpPr txBox="1"/>
          <p:nvPr/>
        </p:nvSpPr>
        <p:spPr>
          <a:xfrm>
            <a:off x="868680" y="5166360"/>
            <a:ext cx="10424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transaction is scored the instant it happens. Low-risk payments go through instantly; suspicious ones trigger an OTP/step-up check; high-risk ones are held or blocked and routed to a human fraud analyst.</a:t>
            </a:r>
            <a:endParaRPr lang="en-US" sz="1200" dirty="0"/>
          </a:p>
        </p:txBody>
      </p:sp>
      <p:sp>
        <p:nvSpPr>
          <p:cNvPr id="36" name="Text 29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1C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1828800"/>
            <a:ext cx="5486400" cy="5486400"/>
          </a:xfrm>
          <a:prstGeom prst="ellipse">
            <a:avLst/>
          </a:prstGeom>
          <a:solidFill>
            <a:srgbClr val="0D2B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B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Business Benefits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212080" cy="1874520"/>
          </a:xfrm>
          <a:prstGeom prst="roundRect">
            <a:avLst>
              <a:gd name="adj" fmla="val 5854"/>
            </a:avLst>
          </a:prstGeom>
          <a:solidFill>
            <a:srgbClr val="112E50"/>
          </a:solidFill>
          <a:ln w="12700">
            <a:solidFill>
              <a:srgbClr val="1E42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23544" y="2318004"/>
            <a:ext cx="621792" cy="621792"/>
          </a:xfrm>
          <a:prstGeom prst="ellipse">
            <a:avLst/>
          </a:prstGeom>
          <a:solidFill>
            <a:srgbClr val="00BAF2"/>
          </a:solidFill>
          <a:ln/>
          <a:effectLst>
            <a:outerShdw blurRad="76200" dist="25400" dir="5400000" algn="bl" rotWithShape="0">
              <a:srgbClr val="1A1A1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0" descr="icon_trendup_081C3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2774" y="2467234"/>
            <a:ext cx="323332" cy="32333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783080" y="1947672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Increased Revenue</a:t>
            </a:r>
            <a:endParaRPr lang="en-US" sz="1450" dirty="0"/>
          </a:p>
        </p:txBody>
      </p:sp>
      <p:sp>
        <p:nvSpPr>
          <p:cNvPr id="9" name="Text 6"/>
          <p:cNvSpPr txBox="1"/>
          <p:nvPr/>
        </p:nvSpPr>
        <p:spPr>
          <a:xfrm>
            <a:off x="1783080" y="2313432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AF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fraud losses and chargebacks protect margins; a safer platform attracts more merchants and volume.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080760" y="1691640"/>
            <a:ext cx="5212080" cy="1874520"/>
          </a:xfrm>
          <a:prstGeom prst="roundRect">
            <a:avLst>
              <a:gd name="adj" fmla="val 5854"/>
            </a:avLst>
          </a:prstGeom>
          <a:solidFill>
            <a:srgbClr val="112E50"/>
          </a:solidFill>
          <a:ln w="12700">
            <a:solidFill>
              <a:srgbClr val="1E42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6455664" y="2318004"/>
            <a:ext cx="621792" cy="621792"/>
          </a:xfrm>
          <a:prstGeom prst="ellipse">
            <a:avLst/>
          </a:prstGeom>
          <a:solidFill>
            <a:srgbClr val="00BAF2"/>
          </a:solidFill>
          <a:ln/>
          <a:effectLst>
            <a:outerShdw blurRad="76200" dist="25400" dir="5400000" algn="bl" rotWithShape="0">
              <a:srgbClr val="1A1A1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2" name="Image 1" descr="icon_dollar_081C3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4894" y="2467234"/>
            <a:ext cx="323332" cy="32333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315200" y="1947672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Operational Costs</a:t>
            </a:r>
            <a:endParaRPr lang="en-US" sz="1450" dirty="0"/>
          </a:p>
        </p:txBody>
      </p:sp>
      <p:sp>
        <p:nvSpPr>
          <p:cNvPr id="14" name="Text 10"/>
          <p:cNvSpPr txBox="1"/>
          <p:nvPr/>
        </p:nvSpPr>
        <p:spPr>
          <a:xfrm>
            <a:off x="7315200" y="2313432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AF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scoring cuts manual review workload, letting analysts focus only on genuinely high-risk cases.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48640" y="3886200"/>
            <a:ext cx="5212080" cy="1874520"/>
          </a:xfrm>
          <a:prstGeom prst="roundRect">
            <a:avLst>
              <a:gd name="adj" fmla="val 5854"/>
            </a:avLst>
          </a:prstGeom>
          <a:solidFill>
            <a:srgbClr val="112E50"/>
          </a:solidFill>
          <a:ln w="12700">
            <a:solidFill>
              <a:srgbClr val="1E42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923544" y="4512564"/>
            <a:ext cx="621792" cy="621792"/>
          </a:xfrm>
          <a:prstGeom prst="ellipse">
            <a:avLst/>
          </a:prstGeom>
          <a:solidFill>
            <a:srgbClr val="00BAF2"/>
          </a:solidFill>
          <a:ln/>
          <a:effectLst>
            <a:outerShdw blurRad="76200" dist="25400" dir="5400000" algn="bl" rotWithShape="0">
              <a:srgbClr val="1A1A1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7" name="Image 2" descr="icon_usercheck_081C3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2774" y="4661794"/>
            <a:ext cx="323332" cy="323332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783080" y="4142232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Customer Experience</a:t>
            </a:r>
            <a:endParaRPr lang="en-US" sz="1450" dirty="0"/>
          </a:p>
        </p:txBody>
      </p:sp>
      <p:sp>
        <p:nvSpPr>
          <p:cNvPr id="19" name="Text 14"/>
          <p:cNvSpPr txBox="1"/>
          <p:nvPr/>
        </p:nvSpPr>
        <p:spPr>
          <a:xfrm>
            <a:off x="1783080" y="4507992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AF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Genuine customers face less friction because low-risk transactions clear instantly, not blanket manual checks.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6080760" y="3886200"/>
            <a:ext cx="5212080" cy="1874520"/>
          </a:xfrm>
          <a:prstGeom prst="roundRect">
            <a:avLst>
              <a:gd name="adj" fmla="val 5854"/>
            </a:avLst>
          </a:prstGeom>
          <a:solidFill>
            <a:srgbClr val="112E50"/>
          </a:solidFill>
          <a:ln w="12700">
            <a:solidFill>
              <a:srgbClr val="1E42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6"/>
          <p:cNvSpPr/>
          <p:nvPr/>
        </p:nvSpPr>
        <p:spPr>
          <a:xfrm>
            <a:off x="6455664" y="4512564"/>
            <a:ext cx="621792" cy="621792"/>
          </a:xfrm>
          <a:prstGeom prst="ellipse">
            <a:avLst/>
          </a:prstGeom>
          <a:solidFill>
            <a:srgbClr val="00BAF2"/>
          </a:solidFill>
          <a:ln/>
          <a:effectLst>
            <a:outerShdw blurRad="76200" dist="25400" dir="5400000" algn="bl" rotWithShape="0">
              <a:srgbClr val="1A1A1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2" name="Image 3" descr="icon_clock_081C3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04894" y="4661794"/>
            <a:ext cx="323332" cy="323332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7315200" y="4142232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Decision-Making</a:t>
            </a:r>
            <a:endParaRPr lang="en-US" sz="1450" dirty="0"/>
          </a:p>
        </p:txBody>
      </p:sp>
      <p:sp>
        <p:nvSpPr>
          <p:cNvPr id="24" name="Text 18"/>
          <p:cNvSpPr txBox="1"/>
          <p:nvPr/>
        </p:nvSpPr>
        <p:spPr>
          <a:xfrm>
            <a:off x="7315200" y="4507992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AF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decisions happen in milliseconds instead of hours, enabling real-time blocking before money leaves.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B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RISKS, ETHICS &amp; RESPONSIBLE AI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2B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Could Go Wrong — and How to Guard Against It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4F7FB"/>
          </a:solidFill>
          <a:ln w="12700">
            <a:solidFill>
              <a:srgbClr val="DCE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95528" y="1801368"/>
            <a:ext cx="512064" cy="512064"/>
          </a:xfrm>
          <a:prstGeom prst="ellipse">
            <a:avLst/>
          </a:prstGeom>
          <a:solidFill>
            <a:srgbClr val="FF6B35"/>
          </a:solidFill>
          <a:ln/>
          <a:effectLst>
            <a:outerShdw blurRad="76200" dist="25400" dir="5400000" algn="bl" rotWithShape="0">
              <a:srgbClr val="1A1A1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icon_alert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423" y="1924263"/>
            <a:ext cx="266273" cy="26627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77240" y="242316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2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Positives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743200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100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Blocking genuine customers erodes trust and can push users to a competitor app.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325112" y="160020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4F7FB"/>
          </a:solidFill>
          <a:ln w="12700">
            <a:solidFill>
              <a:srgbClr val="DCE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572000" y="1801368"/>
            <a:ext cx="512064" cy="512064"/>
          </a:xfrm>
          <a:prstGeom prst="ellipse">
            <a:avLst/>
          </a:prstGeom>
          <a:solidFill>
            <a:srgbClr val="FF6B35"/>
          </a:solidFill>
          <a:ln/>
          <a:effectLst>
            <a:outerShdw blurRad="76200" dist="25400" dir="5400000" algn="bl" rotWithShape="0">
              <a:srgbClr val="1A1A1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1" name="Image 1" descr="icon_lock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4895" y="1924263"/>
            <a:ext cx="266273" cy="266273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553712" y="242316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2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</a:t>
            </a:r>
            <a:endParaRPr lang="en-US" sz="1250" dirty="0"/>
          </a:p>
        </p:txBody>
      </p:sp>
      <p:sp>
        <p:nvSpPr>
          <p:cNvPr id="13" name="Text 9"/>
          <p:cNvSpPr txBox="1"/>
          <p:nvPr/>
        </p:nvSpPr>
        <p:spPr>
          <a:xfrm>
            <a:off x="4553712" y="2743200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100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and location data is sensitive; it must be secured and used within consent limits.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8101584" y="160020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4F7FB"/>
          </a:solidFill>
          <a:ln w="12700">
            <a:solidFill>
              <a:srgbClr val="DCE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8348472" y="1801368"/>
            <a:ext cx="512064" cy="512064"/>
          </a:xfrm>
          <a:prstGeom prst="ellipse">
            <a:avLst/>
          </a:prstGeom>
          <a:solidFill>
            <a:srgbClr val="FF6B35"/>
          </a:solidFill>
          <a:ln/>
          <a:effectLst>
            <a:outerShdw blurRad="76200" dist="25400" dir="5400000" algn="bl" rotWithShape="0">
              <a:srgbClr val="1A1A1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6" name="Image 2" descr="icon_shield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71367" y="1924263"/>
            <a:ext cx="266273" cy="266273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330184" y="242316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2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&amp; Fairness</a:t>
            </a:r>
            <a:endParaRPr lang="en-US" sz="1250" dirty="0"/>
          </a:p>
        </p:txBody>
      </p:sp>
      <p:sp>
        <p:nvSpPr>
          <p:cNvPr id="18" name="Text 13"/>
          <p:cNvSpPr txBox="1"/>
          <p:nvPr/>
        </p:nvSpPr>
        <p:spPr>
          <a:xfrm>
            <a:off x="8330184" y="2743200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100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must not unfairly flag specific regions, devices, or customer segments as high-risk.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548640" y="3822192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4F7FB"/>
          </a:solidFill>
          <a:ln w="12700">
            <a:solidFill>
              <a:srgbClr val="DCE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795528" y="4023360"/>
            <a:ext cx="512064" cy="512064"/>
          </a:xfrm>
          <a:prstGeom prst="ellipse">
            <a:avLst/>
          </a:prstGeom>
          <a:solidFill>
            <a:srgbClr val="FF6B35"/>
          </a:solidFill>
          <a:ln/>
          <a:effectLst>
            <a:outerShdw blurRad="76200" dist="25400" dir="5400000" algn="bl" rotWithShape="0">
              <a:srgbClr val="1A1A1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1" name="Image 3" descr="icon_eye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8423" y="4146255"/>
            <a:ext cx="266273" cy="266273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77240" y="4645152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2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Transparency</a:t>
            </a:r>
            <a:endParaRPr lang="en-US" sz="1250" dirty="0"/>
          </a:p>
        </p:txBody>
      </p:sp>
      <p:sp>
        <p:nvSpPr>
          <p:cNvPr id="23" name="Text 17"/>
          <p:cNvSpPr txBox="1"/>
          <p:nvPr/>
        </p:nvSpPr>
        <p:spPr>
          <a:xfrm>
            <a:off x="777240" y="4965192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100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Regulators and analysts need to understand why a transaction was blocked, not just a black-box score.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4325112" y="3822192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4F7FB"/>
          </a:solidFill>
          <a:ln w="12700">
            <a:solidFill>
              <a:srgbClr val="DCE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19"/>
          <p:cNvSpPr/>
          <p:nvPr/>
        </p:nvSpPr>
        <p:spPr>
          <a:xfrm>
            <a:off x="4572000" y="4023360"/>
            <a:ext cx="512064" cy="512064"/>
          </a:xfrm>
          <a:prstGeom prst="ellipse">
            <a:avLst/>
          </a:prstGeom>
          <a:solidFill>
            <a:srgbClr val="FF6B35"/>
          </a:solidFill>
          <a:ln/>
          <a:effectLst>
            <a:outerShdw blurRad="76200" dist="25400" dir="5400000" algn="bl" rotWithShape="0">
              <a:srgbClr val="1A1A1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6" name="Image 4" descr="icon_cpu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94895" y="4146255"/>
            <a:ext cx="266273" cy="266273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4553712" y="4645152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2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Drift</a:t>
            </a:r>
            <a:endParaRPr lang="en-US" sz="1250" dirty="0"/>
          </a:p>
        </p:txBody>
      </p:sp>
      <p:sp>
        <p:nvSpPr>
          <p:cNvPr id="28" name="Text 21"/>
          <p:cNvSpPr txBox="1"/>
          <p:nvPr/>
        </p:nvSpPr>
        <p:spPr>
          <a:xfrm>
            <a:off x="4553712" y="4965192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100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tactics evolve constantly; a model trained on old patterns loses accuracy over time.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8101584" y="3822192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4F7FB"/>
          </a:solidFill>
          <a:ln w="12700">
            <a:solidFill>
              <a:srgbClr val="DCE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3"/>
          <p:cNvSpPr/>
          <p:nvPr/>
        </p:nvSpPr>
        <p:spPr>
          <a:xfrm>
            <a:off x="8348472" y="4023360"/>
            <a:ext cx="512064" cy="512064"/>
          </a:xfrm>
          <a:prstGeom prst="ellipse">
            <a:avLst/>
          </a:prstGeom>
          <a:solidFill>
            <a:srgbClr val="FF6B35"/>
          </a:solidFill>
          <a:ln/>
          <a:effectLst>
            <a:outerShdw blurRad="76200" dist="25400" dir="5400000" algn="bl" rotWithShape="0">
              <a:srgbClr val="1A1A1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1" name="Image 5" descr="icon_users_FFFFF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71367" y="4146255"/>
            <a:ext cx="266273" cy="266273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8330184" y="4645152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2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Oversight</a:t>
            </a:r>
            <a:endParaRPr lang="en-US" sz="1250" dirty="0"/>
          </a:p>
        </p:txBody>
      </p:sp>
      <p:sp>
        <p:nvSpPr>
          <p:cNvPr id="33" name="Text 25"/>
          <p:cNvSpPr txBox="1"/>
          <p:nvPr/>
        </p:nvSpPr>
        <p:spPr>
          <a:xfrm>
            <a:off x="8330184" y="4965192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100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High-impact decisions (large blocks, account freezes) still need a trained analyst in the loop.</a:t>
            </a:r>
            <a:endParaRPr lang="en-US" sz="1000" dirty="0"/>
          </a:p>
        </p:txBody>
      </p:sp>
      <p:sp>
        <p:nvSpPr>
          <p:cNvPr id="34" name="Text 26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B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TOOLS &amp; PROMPTS USED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2B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AI Was Used for This Research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i="1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Simply copying an AI-generated answer is not research — these tools were used to structure thinking, compare ideas, and locate credible sources.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4983480" cy="4160520"/>
          </a:xfrm>
          <a:prstGeom prst="roundRect">
            <a:avLst>
              <a:gd name="adj" fmla="val 2637"/>
            </a:avLst>
          </a:prstGeom>
          <a:solidFill>
            <a:srgbClr val="F4F7FB"/>
          </a:solidFill>
          <a:ln w="12700">
            <a:solidFill>
              <a:srgbClr val="DCE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868680" y="219456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0B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TOOLS USED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982980" y="2738628"/>
            <a:ext cx="502920" cy="502920"/>
          </a:xfrm>
          <a:prstGeom prst="ellipse">
            <a:avLst/>
          </a:prstGeom>
          <a:solidFill>
            <a:srgbClr val="0D2B52"/>
          </a:solidFill>
          <a:ln/>
          <a:effectLst>
            <a:outerShdw blurRad="76200" dist="25400" dir="5400000" algn="bl" rotWithShape="0">
              <a:srgbClr val="1A1A1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8" name="Image 0" descr="icon_tool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3681" y="2859329"/>
            <a:ext cx="261518" cy="26151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600200" y="26974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2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1600200" y="297180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AI/ML fraud-detection concepts and structuring the overall case study.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982980" y="3790188"/>
            <a:ext cx="502920" cy="502920"/>
          </a:xfrm>
          <a:prstGeom prst="ellipse">
            <a:avLst/>
          </a:prstGeom>
          <a:solidFill>
            <a:srgbClr val="0D2B52"/>
          </a:solidFill>
          <a:ln/>
          <a:effectLst>
            <a:outerShdw blurRad="76200" dist="25400" dir="5400000" algn="bl" rotWithShape="0">
              <a:srgbClr val="1A1A1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2" name="Image 1" descr="icon_layers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3681" y="3910889"/>
            <a:ext cx="261518" cy="26151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600200" y="37490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2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1600200" y="402336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Analyzing long RBI/NPCI reports and comparing solution approaches for this deck.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982980" y="4841748"/>
            <a:ext cx="502920" cy="502920"/>
          </a:xfrm>
          <a:prstGeom prst="ellipse">
            <a:avLst/>
          </a:prstGeom>
          <a:solidFill>
            <a:srgbClr val="0D2B52"/>
          </a:solidFill>
          <a:ln/>
          <a:effectLst>
            <a:outerShdw blurRad="76200" dist="25400" dir="5400000" algn="bl" rotWithShape="0">
              <a:srgbClr val="1A1A1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6" name="Image 2" descr="icon_search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3681" y="4962449"/>
            <a:ext cx="261518" cy="26151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600200" y="48006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2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Perplexity</a:t>
            </a:r>
            <a:endParaRPr lang="en-US" sz="1300" dirty="0"/>
          </a:p>
        </p:txBody>
      </p:sp>
      <p:sp>
        <p:nvSpPr>
          <p:cNvPr id="18" name="Text 13"/>
          <p:cNvSpPr txBox="1"/>
          <p:nvPr/>
        </p:nvSpPr>
        <p:spPr>
          <a:xfrm>
            <a:off x="1600200" y="507492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statistics and credible sources (RBI, NPCI, news reports) with citations.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5760720" y="1965960"/>
            <a:ext cx="5852160" cy="4160520"/>
          </a:xfrm>
          <a:prstGeom prst="roundRect">
            <a:avLst>
              <a:gd name="adj" fmla="val 2637"/>
            </a:avLst>
          </a:prstGeom>
          <a:solidFill>
            <a:srgbClr val="112E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5"/>
          <p:cNvSpPr txBox="1"/>
          <p:nvPr/>
        </p:nvSpPr>
        <p:spPr>
          <a:xfrm>
            <a:off x="6080760" y="219456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0B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PROMPTS USED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6217920" y="2743200"/>
            <a:ext cx="457200" cy="457200"/>
          </a:xfrm>
          <a:prstGeom prst="ellipse">
            <a:avLst/>
          </a:prstGeom>
          <a:solidFill>
            <a:srgbClr val="00BAF2"/>
          </a:solidFill>
          <a:ln/>
          <a:effectLst>
            <a:outerShdw blurRad="76200" dist="25400" dir="5400000" algn="bl" rotWithShape="0">
              <a:srgbClr val="1A1A1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2" name="Image 3" descr="icon_message_081C3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27648" y="2852928"/>
            <a:ext cx="237744" cy="237744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6812280" y="2651760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i="1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“Explain how AI/ML is used for fraud detection in digital payment platforms like Paytm. Focus on transaction data, real-time scoring and business impact.”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6217920" y="3794760"/>
            <a:ext cx="457200" cy="457200"/>
          </a:xfrm>
          <a:prstGeom prst="ellipse">
            <a:avLst/>
          </a:prstGeom>
          <a:solidFill>
            <a:srgbClr val="00BAF2"/>
          </a:solidFill>
          <a:ln/>
          <a:effectLst>
            <a:outerShdw blurRad="76200" dist="25400" dir="5400000" algn="bl" rotWithShape="0">
              <a:srgbClr val="1A1A1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5" name="Image 4" descr="icon_message_081C3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27648" y="3904488"/>
            <a:ext cx="237744" cy="237744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6812280" y="3703320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i="1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data would a fraud-detection model for UPI transactions need? List data categories with examples.”</a:t>
            </a:r>
            <a:endParaRPr lang="en-US" sz="1050" dirty="0"/>
          </a:p>
        </p:txBody>
      </p:sp>
      <p:sp>
        <p:nvSpPr>
          <p:cNvPr id="27" name="Shape 20"/>
          <p:cNvSpPr/>
          <p:nvPr/>
        </p:nvSpPr>
        <p:spPr>
          <a:xfrm>
            <a:off x="6217920" y="4846320"/>
            <a:ext cx="457200" cy="457200"/>
          </a:xfrm>
          <a:prstGeom prst="ellipse">
            <a:avLst/>
          </a:prstGeom>
          <a:solidFill>
            <a:srgbClr val="00BAF2"/>
          </a:solidFill>
          <a:ln/>
          <a:effectLst>
            <a:outerShdw blurRad="76200" dist="25400" dir="5400000" algn="bl" rotWithShape="0">
              <a:srgbClr val="1A1A1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8" name="Image 5" descr="icon_message_081C3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27648" y="4956048"/>
            <a:ext cx="237744" cy="237744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6812280" y="4754880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i="1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“Summarize RBI and NPCI's use of AI for fraud prevention in India, with real examples and credible sources.”</a:t>
            </a:r>
            <a:endParaRPr lang="en-US" sz="1050" dirty="0"/>
          </a:p>
        </p:txBody>
      </p:sp>
      <p:sp>
        <p:nvSpPr>
          <p:cNvPr id="30" name="Text 22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B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IMPROVEMENT &amp; AI EVALUATION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2B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a Basic Prompt to a Better Result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49240" cy="1874520"/>
          </a:xfrm>
          <a:prstGeom prst="roundRect">
            <a:avLst>
              <a:gd name="adj" fmla="val 4878"/>
            </a:avLst>
          </a:prstGeom>
          <a:solidFill>
            <a:srgbClr val="F4F7FB"/>
          </a:solidFill>
          <a:ln w="12700">
            <a:solidFill>
              <a:srgbClr val="DCE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" y="1719072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PROMPT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05740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i="1" dirty="0">
                <a:solidFill>
                  <a:srgbClr val="0D2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“Tell me about AI in fraud detection for payments.”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78892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generic bullet list, no India-specific context, no sources.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263640" y="1554480"/>
            <a:ext cx="5349240" cy="1874520"/>
          </a:xfrm>
          <a:prstGeom prst="roundRect">
            <a:avLst>
              <a:gd name="adj" fmla="val 4878"/>
            </a:avLst>
          </a:prstGeom>
          <a:solidFill>
            <a:srgbClr val="0D2B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6537960" y="1719072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0B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PROMPT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537960" y="2011680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“Act as a business analyst. Analyse how AI/ML-based fraud detection is used by Indian digital payment platforms such as Paytm, focusing on transaction data, real-time risk scoring and RBI/NPCI regulatory context. Provide real examples, business benefits, risks and credible sources.”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6537960" y="29718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structured, India-specific analysis with real regulatory examples and cited sources.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5870448" y="226314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48640" y="3703320"/>
            <a:ext cx="11064240" cy="960120"/>
          </a:xfrm>
          <a:prstGeom prst="roundRect">
            <a:avLst>
              <a:gd name="adj" fmla="val 9524"/>
            </a:avLst>
          </a:prstGeom>
          <a:solidFill>
            <a:srgbClr val="F4F7FB"/>
          </a:solidFill>
          <a:ln w="12700">
            <a:solidFill>
              <a:srgbClr val="DCE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822960" y="3822192"/>
            <a:ext cx="10424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0B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IMPROVED PROMPT WORKED BETTER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4114800"/>
            <a:ext cx="10424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Giving the AI a role (“business analyst”), naming the specific company and focus areas, and explicitly asking for real examples and sources produced a far more usable, verifiable answer than a vague, open-ended question.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4846320"/>
            <a:ext cx="11064240" cy="1280160"/>
          </a:xfrm>
          <a:prstGeom prst="roundRect">
            <a:avLst>
              <a:gd name="adj" fmla="val 7143"/>
            </a:avLst>
          </a:prstGeom>
          <a:solidFill>
            <a:srgbClr val="FFF4EE"/>
          </a:solidFill>
          <a:ln w="12700">
            <a:solidFill>
              <a:srgbClr val="FFD9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822960" y="4983480"/>
            <a:ext cx="10424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EVALUATION OF AI OUTPUT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5285232"/>
            <a:ext cx="10424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AI answer quoted a generic, unsourced fraud-loss figure. This was verified against RBI's Annual Report 2024-25, which shows digital payment fraud value actually jumped over 5x year-on-year to ₹1,457 crore in FY24 — a specific, citable number the original response lacked. The prompt was then revised to explicitly request official sources.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81C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-2286000"/>
            <a:ext cx="5486400" cy="5486400"/>
          </a:xfrm>
          <a:prstGeom prst="ellipse">
            <a:avLst/>
          </a:prstGeom>
          <a:solidFill>
            <a:srgbClr val="0D2B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B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&amp; CONCLUSION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Paytm Should Do Next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212080" cy="1874520"/>
          </a:xfrm>
          <a:prstGeom prst="roundRect">
            <a:avLst>
              <a:gd name="adj" fmla="val 5854"/>
            </a:avLst>
          </a:prstGeom>
          <a:solidFill>
            <a:srgbClr val="112E50"/>
          </a:solidFill>
          <a:ln w="12700">
            <a:solidFill>
              <a:srgbClr val="1E42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23544" y="2318004"/>
            <a:ext cx="621792" cy="621792"/>
          </a:xfrm>
          <a:prstGeom prst="ellipse">
            <a:avLst/>
          </a:prstGeom>
          <a:solidFill>
            <a:srgbClr val="FF6B35"/>
          </a:solidFill>
          <a:ln/>
          <a:effectLst>
            <a:outerShdw blurRad="76200" dist="25400" dir="5400000" algn="bl" rotWithShape="0">
              <a:srgbClr val="1A1A1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0" descr="icon_target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2774" y="2467234"/>
            <a:ext cx="323332" cy="32333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783080" y="1947672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Narrow, Prove Value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1783080" y="2313432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AF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on the highest-fraud transaction corridors first, benchmark against current rule-based checks.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080760" y="1691640"/>
            <a:ext cx="5212080" cy="1874520"/>
          </a:xfrm>
          <a:prstGeom prst="roundRect">
            <a:avLst>
              <a:gd name="adj" fmla="val 5854"/>
            </a:avLst>
          </a:prstGeom>
          <a:solidFill>
            <a:srgbClr val="112E50"/>
          </a:solidFill>
          <a:ln w="12700">
            <a:solidFill>
              <a:srgbClr val="1E42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6455664" y="2318004"/>
            <a:ext cx="621792" cy="621792"/>
          </a:xfrm>
          <a:prstGeom prst="ellipse">
            <a:avLst/>
          </a:prstGeom>
          <a:solidFill>
            <a:srgbClr val="FF6B35"/>
          </a:solidFill>
          <a:ln/>
          <a:effectLst>
            <a:outerShdw blurRad="76200" dist="25400" dir="5400000" algn="bl" rotWithShape="0">
              <a:srgbClr val="1A1A1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2" name="Image 1" descr="icon_users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4894" y="2467234"/>
            <a:ext cx="323332" cy="32333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315200" y="1947672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Humans in Critical Decisions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7315200" y="2313432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AF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routine approvals, but keep analysts deciding on large-value blocks and account freezes.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548640" y="3886200"/>
            <a:ext cx="5212080" cy="1874520"/>
          </a:xfrm>
          <a:prstGeom prst="roundRect">
            <a:avLst>
              <a:gd name="adj" fmla="val 5854"/>
            </a:avLst>
          </a:prstGeom>
          <a:solidFill>
            <a:srgbClr val="112E50"/>
          </a:solidFill>
          <a:ln w="12700">
            <a:solidFill>
              <a:srgbClr val="1E42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923544" y="4512564"/>
            <a:ext cx="621792" cy="621792"/>
          </a:xfrm>
          <a:prstGeom prst="ellipse">
            <a:avLst/>
          </a:prstGeom>
          <a:solidFill>
            <a:srgbClr val="FF6B35"/>
          </a:solidFill>
          <a:ln/>
          <a:effectLst>
            <a:outerShdw blurRad="76200" dist="25400" dir="5400000" algn="bl" rotWithShape="0">
              <a:srgbClr val="1A1A1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7" name="Image 2" descr="icon_shield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2774" y="4661794"/>
            <a:ext cx="323332" cy="323332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783080" y="4142232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 in Explainable Models</a:t>
            </a:r>
            <a:endParaRPr lang="en-US" sz="1400" dirty="0"/>
          </a:p>
        </p:txBody>
      </p:sp>
      <p:sp>
        <p:nvSpPr>
          <p:cNvPr id="19" name="Text 14"/>
          <p:cNvSpPr txBox="1"/>
          <p:nvPr/>
        </p:nvSpPr>
        <p:spPr>
          <a:xfrm>
            <a:off x="1783080" y="4507992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AF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Favor models that can justify a block in plain language, for both regulators and customer support.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6080760" y="3886200"/>
            <a:ext cx="5212080" cy="1874520"/>
          </a:xfrm>
          <a:prstGeom prst="roundRect">
            <a:avLst>
              <a:gd name="adj" fmla="val 5854"/>
            </a:avLst>
          </a:prstGeom>
          <a:solidFill>
            <a:srgbClr val="112E50"/>
          </a:solidFill>
          <a:ln w="12700">
            <a:solidFill>
              <a:srgbClr val="1E42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6"/>
          <p:cNvSpPr/>
          <p:nvPr/>
        </p:nvSpPr>
        <p:spPr>
          <a:xfrm>
            <a:off x="6455664" y="4512564"/>
            <a:ext cx="621792" cy="621792"/>
          </a:xfrm>
          <a:prstGeom prst="ellipse">
            <a:avLst/>
          </a:prstGeom>
          <a:solidFill>
            <a:srgbClr val="FF6B35"/>
          </a:solidFill>
          <a:ln/>
          <a:effectLst>
            <a:outerShdw blurRad="76200" dist="25400" dir="5400000" algn="bl" rotWithShape="0">
              <a:srgbClr val="1A1A1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2" name="Image 3" descr="icon_refresh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04894" y="4661794"/>
            <a:ext cx="323332" cy="323332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7315200" y="4142232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Continuous Feedback Loop</a:t>
            </a:r>
            <a:endParaRPr lang="en-US" sz="1400" dirty="0"/>
          </a:p>
        </p:txBody>
      </p:sp>
      <p:sp>
        <p:nvSpPr>
          <p:cNvPr id="24" name="Text 18"/>
          <p:cNvSpPr txBox="1"/>
          <p:nvPr/>
        </p:nvSpPr>
        <p:spPr>
          <a:xfrm>
            <a:off x="7315200" y="4507992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AF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confirmed fraud and false-positive outcomes back into the model so it keeps improving.</a:t>
            </a:r>
            <a:endParaRPr lang="en-US" sz="1050" dirty="0"/>
          </a:p>
        </p:txBody>
      </p:sp>
      <p:sp>
        <p:nvSpPr>
          <p:cNvPr id="25" name="Text 19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B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REFLECTION, REFERENCES &amp; GITHUB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2B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Reflection, Sources &amp; Repository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49240" cy="2423160"/>
          </a:xfrm>
          <a:prstGeom prst="roundRect">
            <a:avLst>
              <a:gd name="adj" fmla="val 4528"/>
            </a:avLst>
          </a:prstGeom>
          <a:solidFill>
            <a:srgbClr val="F4F7FB"/>
          </a:solidFill>
          <a:ln w="12700">
            <a:solidFill>
              <a:srgbClr val="DCE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91540" y="1760220"/>
            <a:ext cx="502920" cy="502920"/>
          </a:xfrm>
          <a:prstGeom prst="ellipse">
            <a:avLst/>
          </a:prstGeom>
          <a:solidFill>
            <a:srgbClr val="0D2B52"/>
          </a:solidFill>
          <a:ln/>
          <a:effectLst>
            <a:outerShdw blurRad="76200" dist="25400" dir="5400000" algn="bl" rotWithShape="0">
              <a:srgbClr val="1A1A1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icon_award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41" y="1880921"/>
            <a:ext cx="261518" cy="26151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08760" y="1810512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0B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REFLECTION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377440"/>
            <a:ext cx="4800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tools sped up research and structuring, but every important fact still needed independent verification. Clear, role-based prompts with a specific focus produced far more useful, checkable answers than vague, open-ended questions.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48640" y="4160520"/>
            <a:ext cx="5349240" cy="1965960"/>
          </a:xfrm>
          <a:prstGeom prst="roundRect">
            <a:avLst>
              <a:gd name="adj" fmla="val 5581"/>
            </a:avLst>
          </a:prstGeom>
          <a:solidFill>
            <a:srgbClr val="0D2B52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0" name="Shape 7"/>
          <p:cNvSpPr/>
          <p:nvPr/>
        </p:nvSpPr>
        <p:spPr>
          <a:xfrm>
            <a:off x="891540" y="4366260"/>
            <a:ext cx="502920" cy="502920"/>
          </a:xfrm>
          <a:prstGeom prst="ellipse">
            <a:avLst/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A1A1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1" name="Image 1" descr="icon_github_0D2B5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2241" y="4486961"/>
            <a:ext cx="261518" cy="26151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508760" y="445770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0B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822960" y="5762444"/>
            <a:ext cx="4800600" cy="1354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6263640" y="1554480"/>
            <a:ext cx="5349240" cy="4572000"/>
          </a:xfrm>
          <a:prstGeom prst="roundRect">
            <a:avLst>
              <a:gd name="adj" fmla="val 2400"/>
            </a:avLst>
          </a:prstGeom>
          <a:solidFill>
            <a:srgbClr val="F4F7FB"/>
          </a:solidFill>
          <a:ln w="12700">
            <a:solidFill>
              <a:srgbClr val="DCE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6606540" y="1760220"/>
            <a:ext cx="502920" cy="502920"/>
          </a:xfrm>
          <a:prstGeom prst="ellipse">
            <a:avLst/>
          </a:prstGeom>
          <a:solidFill>
            <a:srgbClr val="0D2B52"/>
          </a:solidFill>
          <a:ln/>
          <a:effectLst>
            <a:outerShdw blurRad="76200" dist="25400" dir="5400000" algn="bl" rotWithShape="0">
              <a:srgbClr val="1A1A1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7" name="Image 2" descr="icon_book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7241" y="1880921"/>
            <a:ext cx="261518" cy="261518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7223760" y="1810512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0B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537960" y="2478024"/>
            <a:ext cx="91440" cy="9144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5"/>
          <p:cNvSpPr txBox="1"/>
          <p:nvPr/>
        </p:nvSpPr>
        <p:spPr>
          <a:xfrm>
            <a:off x="6766560" y="2350008"/>
            <a:ext cx="4617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RBI Annual Report 2024-25 — Reserve Bank of India (rbi.org.in)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6537960" y="3255264"/>
            <a:ext cx="91440" cy="9144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7"/>
          <p:cNvSpPr txBox="1"/>
          <p:nvPr/>
        </p:nvSpPr>
        <p:spPr>
          <a:xfrm>
            <a:off x="6766560" y="3127248"/>
            <a:ext cx="4617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“Digital payment frauds surge in India as UPI transactions skyrocket” — RBI data via Business Today / Bloomberg (2024)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6537960" y="4032504"/>
            <a:ext cx="91440" cy="9144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19"/>
          <p:cNvSpPr txBox="1"/>
          <p:nvPr/>
        </p:nvSpPr>
        <p:spPr>
          <a:xfrm>
            <a:off x="6766560" y="3904488"/>
            <a:ext cx="4617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PIB Press Release — Digital Payment Transactions &amp; Fraud Prevention Initiatives, Govt. of India (pib.gov.in)</a:t>
            </a:r>
            <a:endParaRPr lang="en-US" sz="1050" dirty="0"/>
          </a:p>
        </p:txBody>
      </p:sp>
      <p:sp>
        <p:nvSpPr>
          <p:cNvPr id="25" name="Shape 20"/>
          <p:cNvSpPr/>
          <p:nvPr/>
        </p:nvSpPr>
        <p:spPr>
          <a:xfrm>
            <a:off x="6537960" y="4809744"/>
            <a:ext cx="91440" cy="9144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1"/>
          <p:cNvSpPr txBox="1"/>
          <p:nvPr/>
        </p:nvSpPr>
        <p:spPr>
          <a:xfrm>
            <a:off x="6766560" y="4681728"/>
            <a:ext cx="4617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Paytm / One97 Communications Ltd. — official website &amp; investor disclosures (paytm.com)</a:t>
            </a:r>
            <a:endParaRPr lang="en-US" sz="1050" dirty="0"/>
          </a:p>
        </p:txBody>
      </p:sp>
      <p:sp>
        <p:nvSpPr>
          <p:cNvPr id="27" name="Shape 22"/>
          <p:cNvSpPr/>
          <p:nvPr/>
        </p:nvSpPr>
        <p:spPr>
          <a:xfrm>
            <a:off x="6537960" y="5586984"/>
            <a:ext cx="91440" cy="9144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3"/>
          <p:cNvSpPr txBox="1"/>
          <p:nvPr/>
        </p:nvSpPr>
        <p:spPr>
          <a:xfrm>
            <a:off x="6766560" y="5458968"/>
            <a:ext cx="4617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NPCI — fraud monitoring &amp; AI/ML use in UPI ecosystem (npci.org.in)</a:t>
            </a:r>
            <a:endParaRPr lang="en-US" sz="1050" dirty="0"/>
          </a:p>
        </p:txBody>
      </p:sp>
      <p:sp>
        <p:nvSpPr>
          <p:cNvPr id="29" name="Text 24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30" name="Rectangle 29"/>
          <p:cNvSpPr/>
          <p:nvPr/>
        </p:nvSpPr>
        <p:spPr>
          <a:xfrm>
            <a:off x="846590" y="4988052"/>
            <a:ext cx="4434840" cy="58521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accent1">
                    <a:lumMod val="50000"/>
                  </a:schemeClr>
                </a:solidFill>
              </a:rPr>
              <a:t>https://github.com/gurkirat13-04/payment-fraud-detection-ml.git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xmlns="" id="{3566F996-ECD0-C065-1EE0-A35BF00C3B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nip Single Corner Rectangle 4"/>
          <p:cNvSpPr/>
          <p:nvPr/>
        </p:nvSpPr>
        <p:spPr>
          <a:xfrm>
            <a:off x="548640" y="365760"/>
            <a:ext cx="9389443" cy="685800"/>
          </a:xfrm>
          <a:prstGeom prst="snip1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xmlns="" id="{E339F3EC-2133-7F47-1478-B8B69FBFD8F8}"/>
              </a:ext>
            </a:extLst>
          </p:cNvPr>
          <p:cNvSpPr txBox="1"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xmlns="" id="{3CE18A79-B9FB-AAB3-AE30-F08E0A758B73}"/>
              </a:ext>
            </a:extLst>
          </p:cNvPr>
          <p:cNvSpPr txBox="1"/>
          <p:nvPr/>
        </p:nvSpPr>
        <p:spPr>
          <a:xfrm>
            <a:off x="538774" y="36576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 err="1" smtClean="0">
                <a:solidFill>
                  <a:srgbClr val="0D2B52"/>
                </a:solidFill>
                <a:latin typeface="Cambria" pitchFamily="34" charset="0"/>
                <a:ea typeface="Cambria" pitchFamily="34" charset="-122"/>
              </a:rPr>
              <a:t>Github</a:t>
            </a:r>
            <a:r>
              <a:rPr lang="en-US" sz="3000" b="1" dirty="0" smtClean="0">
                <a:solidFill>
                  <a:srgbClr val="0D2B52"/>
                </a:solidFill>
                <a:latin typeface="Cambria" pitchFamily="34" charset="0"/>
                <a:ea typeface="Cambria" pitchFamily="34" charset="-122"/>
              </a:rPr>
              <a:t> profile </a:t>
            </a:r>
            <a:r>
              <a:rPr lang="en-US" sz="3000" b="1" dirty="0">
                <a:solidFill>
                  <a:srgbClr val="0D2B52"/>
                </a:solidFill>
                <a:latin typeface="Cambria" pitchFamily="34" charset="0"/>
                <a:ea typeface="Cambria" pitchFamily="34" charset="-122"/>
              </a:rPr>
              <a:t>links </a:t>
            </a:r>
            <a:r>
              <a:rPr lang="en-US" sz="3000" b="1" dirty="0" smtClean="0">
                <a:solidFill>
                  <a:srgbClr val="0D2B52"/>
                </a:solidFill>
                <a:latin typeface="Cambria" pitchFamily="34" charset="0"/>
                <a:ea typeface="Cambria" pitchFamily="34" charset="-122"/>
              </a:rPr>
              <a:t> of all members </a:t>
            </a:r>
            <a:endParaRPr lang="en-US" sz="3000" dirty="0"/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xmlns="" id="{D8A180E4-10FA-CEA4-5BAF-E01F50F2DF4B}"/>
              </a:ext>
            </a:extLst>
          </p:cNvPr>
          <p:cNvSpPr txBox="1"/>
          <p:nvPr/>
        </p:nvSpPr>
        <p:spPr>
          <a:xfrm>
            <a:off x="822960" y="5762444"/>
            <a:ext cx="4800600" cy="1354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endParaRPr lang="en-US" sz="1050" dirty="0"/>
          </a:p>
        </p:txBody>
      </p:sp>
      <p:sp>
        <p:nvSpPr>
          <p:cNvPr id="29" name="Text 24">
            <a:extLst>
              <a:ext uri="{FF2B5EF4-FFF2-40B4-BE49-F238E27FC236}">
                <a16:creationId xmlns:a16="http://schemas.microsoft.com/office/drawing/2014/main" xmlns="" id="{F8586BDD-9A13-FEF2-C06B-D004B039EDB0}"/>
              </a:ext>
            </a:extLst>
          </p:cNvPr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4" name="Rounded Rectangle 3"/>
          <p:cNvSpPr/>
          <p:nvPr/>
        </p:nvSpPr>
        <p:spPr>
          <a:xfrm>
            <a:off x="356134" y="1487103"/>
            <a:ext cx="10893392" cy="4913697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aphicFrame>
        <p:nvGraphicFramePr>
          <p:cNvPr id="31" name="Text 9">
            <a:extLst>
              <a:ext uri="{FF2B5EF4-FFF2-40B4-BE49-F238E27FC236}">
                <a16:creationId xmlns:a16="http://schemas.microsoft.com/office/drawing/2014/main" xmlns="" id="{3D65409B-BA7A-1DD0-AC86-C6F55670682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0784210"/>
              </p:ext>
            </p:extLst>
          </p:nvPr>
        </p:nvGraphicFramePr>
        <p:xfrm>
          <a:off x="822960" y="1769118"/>
          <a:ext cx="10052793" cy="43496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5851876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xmlns="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</TotalTime>
  <Words>1635</Words>
  <Application>Microsoft Office PowerPoint</Application>
  <PresentationFormat>Custom</PresentationFormat>
  <Paragraphs>192</Paragraphs>
  <Slides>13</Slides>
  <Notes>13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gurleenkaur2199@gmail.com</cp:lastModifiedBy>
  <cp:revision>5</cp:revision>
  <dcterms:created xsi:type="dcterms:W3CDTF">2026-09-16T04:39:51Z</dcterms:created>
  <dcterms:modified xsi:type="dcterms:W3CDTF">2026-09-16T06:19:55Z</dcterms:modified>
</cp:coreProperties>
</file>